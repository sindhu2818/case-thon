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ndhu2818/Case-Thon" TargetMode="External"/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5.png"/><Relationship Id="rId8" Type="http://schemas.openxmlformats.org/officeDocument/2006/relationships/image" Target="../media/image-7-6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9.png"/><Relationship Id="rId12" Type="http://schemas.openxmlformats.org/officeDocument/2006/relationships/image" Target="../media/image-7-10.svg"/><Relationship Id="rId13" Type="http://schemas.openxmlformats.org/officeDocument/2006/relationships/image" Target="../media/image-7-9.png"/><Relationship Id="rId14" Type="http://schemas.openxmlformats.org/officeDocument/2006/relationships/image" Target="../media/image-7-10.sv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2549"/>
            <a:ext cx="629686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10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consultation is not the end of the journey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5233360" y="1909167"/>
            <a:ext cx="6296860" cy="15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450"/>
              </a:spcAft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patient gets a teleconsultation with a doctor, but that’s just the start. They still need to collect medicines, get tests done, and come back for follow-up. Some fall out at different points along the way.</a:t>
            </a:r>
            <a:endParaRPr lang="en-US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hard part isn’t the consultation itself. It’s making sure patients actually complete everything that comes after.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3656013"/>
            <a:ext cx="6296860" cy="17264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92397" y="4279853"/>
            <a:ext cx="951560" cy="340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Teleconsultation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992397" y="4669081"/>
            <a:ext cx="951560" cy="39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remotely with doctor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276667" y="4165697"/>
            <a:ext cx="951559" cy="340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 Collection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276667" y="4554925"/>
            <a:ext cx="951559" cy="264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must obtain prescribed meds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585167" y="4279853"/>
            <a:ext cx="951559" cy="17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Required Test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585167" y="4498699"/>
            <a:ext cx="951559" cy="264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or diagnostic tests needed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881553" y="4336079"/>
            <a:ext cx="951560" cy="17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Visit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881553" y="4554925"/>
            <a:ext cx="951560" cy="264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 to assess treatment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233360" y="5569248"/>
            <a:ext cx="6296860" cy="73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1450"/>
              </a:spcAft>
              <a:buNone/>
            </a:pPr>
            <a:r>
              <a:rPr lang="en-US" sz="1350" b="1" spc="-28" kern="0" dirty="0">
                <a:solidFill>
                  <a:srgbClr val="66666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team Yappers</a:t>
            </a:r>
            <a:endParaRPr lang="en-US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50" b="1" spc="-28" kern="0" dirty="0">
                <a:solidFill>
                  <a:srgbClr val="66666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Link: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u="sng" spc="-28" kern="0" dirty="0">
                <a:solidFill>
                  <a:srgbClr val="66666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https://github.com/Sindhu2818/Case-Thon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patient exists across multiple systems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records are scattered across different systems — different IDs, different formats, incomplete pictures. But before we can predict anything, we need to figure out which records belong to the same person.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487" y="348228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 Linkage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487" y="3677146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link records across systems using name, phone, demographics, and geography — with fuzzy matching where required.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6217487" y="3843635"/>
            <a:ext cx="5319083" cy="245566"/>
          </a:xfrm>
          <a:prstGeom prst="roundRect">
            <a:avLst>
              <a:gd name="adj" fmla="val 16164"/>
            </a:avLst>
          </a:prstGeom>
          <a:solidFill>
            <a:srgbClr val="DADBF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3914477"/>
            <a:ext cx="118067" cy="94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24462" y="3909715"/>
            <a:ext cx="55272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person, different IDs in different systems. That's why we built the Patient 360 — to see the whole picture.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78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11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Dropout is not one event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08522"/>
            <a:ext cx="10868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could build a simple dropout classifier. But that just tells you who's at risk, not what to actually do about it. Knowing where the care journey is likely to break — that's what actually helps.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488208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Generic Model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1475" y="2984897"/>
            <a:ext cx="5207465" cy="1153914"/>
          </a:xfrm>
          <a:prstGeom prst="roundRect">
            <a:avLst>
              <a:gd name="adj" fmla="val 67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855" y="3177282"/>
            <a:ext cx="482270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3855" y="3651151"/>
            <a:ext cx="48227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Dropout / No Dropout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4344789"/>
            <a:ext cx="58170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a yes/no. Doesn't tell you where to step in.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29105" y="2488208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29105" y="2984897"/>
            <a:ext cx="5207465" cy="1153914"/>
          </a:xfrm>
          <a:prstGeom prst="roundRect">
            <a:avLst>
              <a:gd name="adj" fmla="val 67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485" y="3177282"/>
            <a:ext cx="482270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1485" y="3651151"/>
            <a:ext cx="48227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Dropout risk +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Likely failure stage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29105" y="4344789"/>
            <a:ext cx="52074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if you know whether it's the medicine, the test, or the follow-up visit — then you know what to do.</a:t>
            </a:r>
            <a:endParaRPr lang="en-US" sz="14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224" y="5311825"/>
            <a:ext cx="279095" cy="27910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66099" y="5306120"/>
            <a:ext cx="28656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66099" y="5706666"/>
            <a:ext cx="28656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collect prescribed medicines.</a:t>
            </a:r>
            <a:endParaRPr lang="en-US" sz="14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0403" y="5311825"/>
            <a:ext cx="279095" cy="2791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65278" y="5306120"/>
            <a:ext cx="28656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965278" y="5706666"/>
            <a:ext cx="28656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complete a required diagnostic test.</a:t>
            </a:r>
            <a:endParaRPr lang="en-US" sz="14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9583" y="5311825"/>
            <a:ext cx="279095" cy="2791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64457" y="5306120"/>
            <a:ext cx="28657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664457" y="5706666"/>
            <a:ext cx="28657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return for scheduled follow-up.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9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stage-aware ML?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4662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looked at three options. The question was: how simple, how smart, and how usable for actual health workers?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61666"/>
            <a:ext cx="3496877" cy="2947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27607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 Dropout Classifier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2684760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Simple, interpretable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Doesn't tell you where to step in — just says someone's at risk.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061666"/>
            <a:ext cx="3496877" cy="2947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227607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Sequence / Transformer Model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63363" y="2980035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Models longitudinal patient events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Gets complicated fast, hard to explain with our dataset size, and health workers won't understand what it's doing.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061666"/>
            <a:ext cx="3496877" cy="29472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9247" y="227607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Stage-Aware Tabular ML ✓ Chosen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49247" y="2980035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Captures patient history, identifies failure stage, easier to validate and explain, practical for deployment.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5221585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ADBF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489277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457825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went with the middle option. Smart enough to understand the care journey, but not so complex that it breaks down in the field.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57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model knows at prediction time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3004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make the prediction right after the consultation, before anything else happens. The model uses four types of information: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904702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7902" y="2091134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6528" y="2239665"/>
            <a:ext cx="243179" cy="2431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7902" y="280322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902" y="3187700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vulnerability status, NCD history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81670" y="1904702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68097" y="2091134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6723" y="2239665"/>
            <a:ext cx="243179" cy="2431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68097" y="280322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Previous Behavior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6368097" y="3187700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visits, medicine pickup patterns, missed follow-ups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61475" y="3827264"/>
            <a:ext cx="5348551" cy="2032397"/>
          </a:xfrm>
          <a:prstGeom prst="roundRect">
            <a:avLst>
              <a:gd name="adj" fmla="val 372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7902" y="4013696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528" y="4162227"/>
            <a:ext cx="243179" cy="2431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902" y="4725789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47902" y="5110262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Location, distance to facility, connectivity when available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81670" y="3827264"/>
            <a:ext cx="5348551" cy="2032397"/>
          </a:xfrm>
          <a:prstGeom prst="roundRect">
            <a:avLst>
              <a:gd name="adj" fmla="val 372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68097" y="4013696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6723" y="4162227"/>
            <a:ext cx="243179" cy="2431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8097" y="4725789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Consultation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6368097" y="5110262"/>
            <a:ext cx="4975696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Diagnosis, prescribed medicines, needed tests, review schedule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61475" y="605284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those four things, the model outputs two things: how likely the patient is to drop out, and where we think they'll get stuck.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 predict the future without using the future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rule we built everything around: the model can't use information from after the consultation it's trying to predict.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10868745" cy="4890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8699" y="1337951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Previous visits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298699" y="1715488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encounter records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79801" y="5006192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 profile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179801" y="5383729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 and history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40002" y="1154409"/>
            <a:ext cx="1902003" cy="5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consultation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040002" y="1825874"/>
            <a:ext cx="1902003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 at prediction point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21104" y="5006192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events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921104" y="5383729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used as model inputs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606732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rule in practice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1475" y="6262191"/>
            <a:ext cx="531908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Consultation: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July 10</a:t>
            </a:r>
            <a:endParaRPr lang="en-US" sz="7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pickup: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July 12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can't use the July 12 event to predict what happened on July 10. That would be cheating. And a model that cheats on training data falls apart when you actually use it.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217487" y="6073180"/>
            <a:ext cx="5319083" cy="358973"/>
          </a:xfrm>
          <a:prstGeom prst="roundRect">
            <a:avLst>
              <a:gd name="adj" fmla="val 11058"/>
            </a:avLst>
          </a:prstGeom>
          <a:solidFill>
            <a:srgbClr val="DADBF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6144022"/>
            <a:ext cx="118067" cy="94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24462" y="6139259"/>
            <a:ext cx="491765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leakage is easy to miss. But it's a killer — your model looks great in testing, then fails the moment you deploy it.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15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spc="-9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 don't give the health worker another probability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71302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isn't here to give health workers another number to think about. Every prediction comes with a concrete next step.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92672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 Patient P003721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47913"/>
            <a:ext cx="2544004" cy="10198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2017" y="253226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Dropout Risk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17" y="2935387"/>
            <a:ext cx="209911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0137" y="2347913"/>
            <a:ext cx="2544004" cy="10198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0678" y="253226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Likely Stage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610678" y="2935387"/>
            <a:ext cx="209911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collection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12443"/>
            <a:ext cx="2544004" cy="17640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2017" y="369679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22017" y="4099917"/>
            <a:ext cx="2099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They've missed pickups before, and getting to the facility is hard.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50137" y="3512443"/>
            <a:ext cx="2544004" cy="17640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10678" y="369679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610678" y="4099917"/>
            <a:ext cx="2099119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the patient, check if they can get to the pharmacy, help arrange transport if needed.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303904" y="192672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→ Action Mapping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5914" y="2352973"/>
            <a:ext cx="248041" cy="24804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41259" y="2347913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 risk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841259" y="2751038"/>
            <a:ext cx="469531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if they can get to the pharmacy, help with transport if that's the problem.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5914" y="3541613"/>
            <a:ext cx="248041" cy="24804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41259" y="3536553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risk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841259" y="3939679"/>
            <a:ext cx="469531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schedule or accompany patient for test completion</a:t>
            </a:r>
            <a:endParaRPr lang="en-US" sz="13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65914" y="4482207"/>
            <a:ext cx="248041" cy="24804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41259" y="4477147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risk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6841259" y="4880273"/>
            <a:ext cx="469531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reminder + assist with review scheduling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303904" y="5291038"/>
            <a:ext cx="5232666" cy="838994"/>
          </a:xfrm>
          <a:prstGeom prst="roundRect">
            <a:avLst>
              <a:gd name="adj" fmla="val 8279"/>
            </a:avLst>
          </a:prstGeom>
          <a:solidFill>
            <a:srgbClr val="DADBF1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9198" y="5516463"/>
            <a:ext cx="206667" cy="16529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41160" y="5462488"/>
            <a:ext cx="45301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 a tool for the health worker, not a replacement for their judgment.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fragmented records to follow-up assurance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how it all fits together — from messy data to an actual action the health worker can take. And every step is traceable, so if something seems off, you can follow it back to the source.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61550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prediction doesn't look right, you can trace it back through the whole chain to see where it came from.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1491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Does the model actually help?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90948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looking at three things — not just whether the model is accurate, but whether it actually works in the real world.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878608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Performance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1475" y="2243237"/>
            <a:ext cx="524705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ROC-AUC, PR-AUC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F1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2856905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Prediction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475" y="3221534"/>
            <a:ext cx="5247052" cy="7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Macro-F1 across stages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Per-stage performance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4101505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Usefulness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1475" y="4466134"/>
            <a:ext cx="5247052" cy="71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many of the patients we flag as highest-risk actually do drop out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the predictions are reliable, and how many patients we'd actually need to follow up with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89518" y="1878608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Temporal Validation Strategy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03469" y="2258814"/>
            <a:ext cx="19050" cy="2910681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24969" y="2422029"/>
            <a:ext cx="30707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3" name="Shape 11"/>
          <p:cNvSpPr/>
          <p:nvPr/>
        </p:nvSpPr>
        <p:spPr>
          <a:xfrm>
            <a:off x="8855449" y="2374007"/>
            <a:ext cx="115091" cy="11509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289518" y="2311598"/>
            <a:ext cx="20092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89518" y="2676227"/>
            <a:ext cx="200922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Earlier development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93945" y="3285827"/>
            <a:ext cx="30707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5449" y="3237805"/>
            <a:ext cx="115091" cy="11509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9527242" y="3175397"/>
            <a:ext cx="2009328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27242" y="3540026"/>
            <a:ext cx="200932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 development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24969" y="4051300"/>
            <a:ext cx="30707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8855449" y="4003278"/>
            <a:ext cx="115091" cy="11509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6289518" y="3940870"/>
            <a:ext cx="20092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89518" y="4305498"/>
            <a:ext cx="200922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evaluation cohort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89518" y="5309791"/>
            <a:ext cx="5247052" cy="746323"/>
          </a:xfrm>
          <a:prstGeom prst="roundRect">
            <a:avLst>
              <a:gd name="adj" fmla="val 8643"/>
            </a:avLst>
          </a:prstGeom>
          <a:solidFill>
            <a:srgbClr val="DADBF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005" y="5503565"/>
            <a:ext cx="191884" cy="15349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88377" y="5460305"/>
            <a:ext cx="459470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not showing numbers here — those will come from the actual evaluation. But this is how we'll measure whether it works.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453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spc="-9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 the risk. Find the break. Act early.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900685" y="1496219"/>
            <a:ext cx="1062953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not just flagging who might drop out. We're identifying where the care journey is likely to break, and turning that into something the health worker can actually act 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344910"/>
            <a:ext cx="19050" cy="772914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269133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8465" y="2388691"/>
            <a:ext cx="239210" cy="239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0915" y="2882106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329203" y="2269133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6193" y="2388691"/>
            <a:ext cx="239210" cy="2392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8643" y="2882106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996930" y="2269133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3920" y="2388691"/>
            <a:ext cx="239210" cy="239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56371" y="2882106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Stage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61475" y="3425230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08465" y="3544788"/>
            <a:ext cx="239210" cy="2392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0915" y="4038203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4329203" y="3425230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76193" y="3544788"/>
            <a:ext cx="239210" cy="2392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88643" y="4038203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Measure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661475" y="4598095"/>
            <a:ext cx="3533191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27265" y="4763889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Uses fragmented data</a:t>
            </a:r>
            <a:endParaRPr lang="en-US" sz="1550" dirty="0"/>
          </a:p>
        </p:txBody>
      </p:sp>
      <p:sp>
        <p:nvSpPr>
          <p:cNvPr id="22" name="Shape 15"/>
          <p:cNvSpPr/>
          <p:nvPr/>
        </p:nvSpPr>
        <p:spPr>
          <a:xfrm>
            <a:off x="4329203" y="4598095"/>
            <a:ext cx="3533191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494993" y="4763889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Respects rural constraints</a:t>
            </a:r>
            <a:endParaRPr lang="en-US" sz="1550" dirty="0"/>
          </a:p>
        </p:txBody>
      </p:sp>
      <p:sp>
        <p:nvSpPr>
          <p:cNvPr id="24" name="Shape 17"/>
          <p:cNvSpPr/>
          <p:nvPr/>
        </p:nvSpPr>
        <p:spPr>
          <a:xfrm>
            <a:off x="7996930" y="4598095"/>
            <a:ext cx="3533191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162721" y="4763889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Interpretable by design</a:t>
            </a:r>
            <a:endParaRPr lang="en-US" sz="1550" dirty="0"/>
          </a:p>
        </p:txBody>
      </p:sp>
      <p:sp>
        <p:nvSpPr>
          <p:cNvPr id="26" name="Shape 19"/>
          <p:cNvSpPr/>
          <p:nvPr/>
        </p:nvSpPr>
        <p:spPr>
          <a:xfrm>
            <a:off x="661475" y="5313363"/>
            <a:ext cx="5367005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27265" y="5479157"/>
            <a:ext cx="503542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Prediction → Action</a:t>
            </a:r>
            <a:endParaRPr lang="en-US" sz="1550" dirty="0"/>
          </a:p>
        </p:txBody>
      </p:sp>
      <p:sp>
        <p:nvSpPr>
          <p:cNvPr id="28" name="Shape 21"/>
          <p:cNvSpPr/>
          <p:nvPr/>
        </p:nvSpPr>
        <p:spPr>
          <a:xfrm>
            <a:off x="6163017" y="5313363"/>
            <a:ext cx="5367104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328807" y="5479157"/>
            <a:ext cx="503552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Evaluable in deployment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661475" y="6045398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the consultation to care that actually gets completed.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666666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2026-09-28T18:26:17Z</dcterms:created>
  <dcterms:modified xsi:type="dcterms:W3CDTF">2026-09-28T18:26:17Z</dcterms:modified>
</cp:coreProperties>
</file>