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indhu2818/Case-Thon" TargetMode="External"/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1.png"/><Relationship Id="rId4" Type="http://schemas.openxmlformats.org/officeDocument/2006/relationships/image" Target="../media/image-4-2.svg"/><Relationship Id="rId5" Type="http://schemas.openxmlformats.org/officeDocument/2006/relationships/image" Target="../media/image-4-1.png"/><Relationship Id="rId6" Type="http://schemas.openxmlformats.org/officeDocument/2006/relationships/image" Target="../media/image-4-2.svg"/><Relationship Id="rId7" Type="http://schemas.openxmlformats.org/officeDocument/2006/relationships/image" Target="../media/image-4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1.png"/><Relationship Id="rId4" Type="http://schemas.openxmlformats.org/officeDocument/2006/relationships/image" Target="../media/image-7-2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5.png"/><Relationship Id="rId8" Type="http://schemas.openxmlformats.org/officeDocument/2006/relationships/image" Target="../media/image-7-6.svg"/><Relationship Id="rId9" Type="http://schemas.openxmlformats.org/officeDocument/2006/relationships/image" Target="../media/image-7-9.png"/><Relationship Id="rId10" Type="http://schemas.openxmlformats.org/officeDocument/2006/relationships/image" Target="../media/image-7-10.svg"/><Relationship Id="rId11" Type="http://schemas.openxmlformats.org/officeDocument/2006/relationships/image" Target="../media/image-7-9.png"/><Relationship Id="rId12" Type="http://schemas.openxmlformats.org/officeDocument/2006/relationships/image" Target="../media/image-7-10.svg"/><Relationship Id="rId13" Type="http://schemas.openxmlformats.org/officeDocument/2006/relationships/image" Target="../media/image-7-9.png"/><Relationship Id="rId14" Type="http://schemas.openxmlformats.org/officeDocument/2006/relationships/image" Target="../media/image-7-10.svg"/><Relationship Id="rId15" Type="http://schemas.openxmlformats.org/officeDocument/2006/relationships/image" Target="../media/image-7-15.png"/><Relationship Id="rId16" Type="http://schemas.openxmlformats.org/officeDocument/2006/relationships/slideLayout" Target="../slideLayouts/slideLayout2.xml"/><Relationship Id="rId1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image" Target="../media/image-10-7.png"/><Relationship Id="rId8" Type="http://schemas.openxmlformats.org/officeDocument/2006/relationships/image" Target="../media/image-10-8.svg"/><Relationship Id="rId9" Type="http://schemas.openxmlformats.org/officeDocument/2006/relationships/image" Target="../media/image-10-9.png"/><Relationship Id="rId10" Type="http://schemas.openxmlformats.org/officeDocument/2006/relationships/image" Target="../media/image-10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558602"/>
            <a:ext cx="6296860" cy="11261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spc="-10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consultation is not the end of the journey</a:t>
            </a:r>
            <a:endParaRPr lang="en-US" sz="3500" dirty="0"/>
          </a:p>
        </p:txBody>
      </p:sp>
      <p:sp>
        <p:nvSpPr>
          <p:cNvPr id="4" name="Text 1"/>
          <p:cNvSpPr/>
          <p:nvPr/>
        </p:nvSpPr>
        <p:spPr>
          <a:xfrm>
            <a:off x="5233360" y="1942306"/>
            <a:ext cx="6296860" cy="1600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patient gets a teleconsultation with a doctor, but that’s just the start. They still need to collect medicines, get tests done, and come back for follow-up. Some fall out at different points along the way.</a:t>
            </a:r>
            <a:endParaRPr lang="en-US" sz="14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00" b="1" spc="-28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hard part isn’t the consultation itself. It’s making sure patients actually complete everything that comes after.</a:t>
            </a:r>
            <a:endParaRPr lang="en-US" sz="14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3360" y="3736082"/>
            <a:ext cx="6296860" cy="1726406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992397" y="4359922"/>
            <a:ext cx="951560" cy="340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spc="-32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Teleconsultation</a:t>
            </a:r>
            <a:endParaRPr lang="en-US" sz="1050" dirty="0"/>
          </a:p>
        </p:txBody>
      </p:sp>
      <p:sp>
        <p:nvSpPr>
          <p:cNvPr id="7" name="Text 3"/>
          <p:cNvSpPr/>
          <p:nvPr/>
        </p:nvSpPr>
        <p:spPr>
          <a:xfrm>
            <a:off x="5992397" y="4749150"/>
            <a:ext cx="951560" cy="399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8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Completed remotely with doctor</a:t>
            </a:r>
            <a:endParaRPr lang="en-US" sz="850" dirty="0"/>
          </a:p>
        </p:txBody>
      </p:sp>
      <p:sp>
        <p:nvSpPr>
          <p:cNvPr id="8" name="Text 4"/>
          <p:cNvSpPr/>
          <p:nvPr/>
        </p:nvSpPr>
        <p:spPr>
          <a:xfrm>
            <a:off x="7276667" y="4243684"/>
            <a:ext cx="951559" cy="340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spc="-3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Medicine Collection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7276667" y="4632912"/>
            <a:ext cx="951559" cy="266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8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must obtain prescribed meds</a:t>
            </a:r>
            <a:endParaRPr lang="en-US" sz="850" dirty="0"/>
          </a:p>
        </p:txBody>
      </p:sp>
      <p:sp>
        <p:nvSpPr>
          <p:cNvPr id="10" name="Text 6"/>
          <p:cNvSpPr/>
          <p:nvPr/>
        </p:nvSpPr>
        <p:spPr>
          <a:xfrm>
            <a:off x="8585167" y="4359922"/>
            <a:ext cx="951559" cy="17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spc="-3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Required Test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585167" y="4578768"/>
            <a:ext cx="951559" cy="2661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8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Lab or diagnostic tests needed</a:t>
            </a:r>
            <a:endParaRPr lang="en-US" sz="850" dirty="0"/>
          </a:p>
        </p:txBody>
      </p:sp>
      <p:sp>
        <p:nvSpPr>
          <p:cNvPr id="12" name="Text 8"/>
          <p:cNvSpPr/>
          <p:nvPr/>
        </p:nvSpPr>
        <p:spPr>
          <a:xfrm>
            <a:off x="9881553" y="4414066"/>
            <a:ext cx="951560" cy="170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050" b="1" spc="-3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 Visit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9881553" y="4632912"/>
            <a:ext cx="951560" cy="2661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850" spc="-27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Follow-up to assess treatment</a:t>
            </a:r>
            <a:endParaRPr lang="en-US" sz="850" dirty="0"/>
          </a:p>
        </p:txBody>
      </p:sp>
      <p:sp>
        <p:nvSpPr>
          <p:cNvPr id="14" name="Text 10"/>
          <p:cNvSpPr/>
          <p:nvPr/>
        </p:nvSpPr>
        <p:spPr>
          <a:xfrm>
            <a:off x="5233360" y="5655667"/>
            <a:ext cx="6296860" cy="643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spcAft>
                <a:spcPts val="1500"/>
              </a:spcAft>
              <a:buNone/>
            </a:pPr>
            <a:r>
              <a:rPr lang="en-US" sz="1100" spc="-28" kern="0" dirty="0">
                <a:solidFill>
                  <a:srgbClr val="6666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By team Yappers</a:t>
            </a:r>
            <a:endParaRPr lang="en-US" sz="11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100" b="1" u="sng" spc="-28" kern="0" dirty="0">
                <a:solidFill>
                  <a:srgbClr val="4950BC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View on GitHub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patient exists across multiple systems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records are scattered across different systems — different IDs, different formats, incomplete pictures. But before we can predict anything, we need to figure out which records belong to the same person.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29109"/>
            <a:ext cx="5319083" cy="531921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217487" y="3482280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Record Linkage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6217487" y="3677146"/>
            <a:ext cx="5928668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link records across systems using name, phone, demographics, and geography — with fuzzy matching where required.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6217487" y="3843635"/>
            <a:ext cx="5319083" cy="245566"/>
          </a:xfrm>
          <a:prstGeom prst="roundRect">
            <a:avLst>
              <a:gd name="adj" fmla="val 16164"/>
            </a:avLst>
          </a:prstGeom>
          <a:solidFill>
            <a:srgbClr val="DADBF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41" y="3914477"/>
            <a:ext cx="118067" cy="94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524462" y="3909715"/>
            <a:ext cx="5527239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Same person, different IDs in different systems. That's why we built the Patient 360 — to see the whole picture.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0784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spc="-110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Dropout is not one event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508522"/>
            <a:ext cx="1086874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could build a simple dropout classifier. But that just tells you who's at risk, not what to actually do about it. Knowing where the care journey is likely to break — that's what actually helps.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61475" y="2488208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Generic Model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61475" y="2984897"/>
            <a:ext cx="5207465" cy="1153914"/>
          </a:xfrm>
          <a:prstGeom prst="roundRect">
            <a:avLst>
              <a:gd name="adj" fmla="val 677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3855" y="3177282"/>
            <a:ext cx="4822704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Patient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53855" y="3651151"/>
            <a:ext cx="48227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Dropout / No Dropout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661475" y="4344789"/>
            <a:ext cx="5817050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Just a yes/no. Doesn't tell you where to step in.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6329105" y="2488208"/>
            <a:ext cx="520746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Our Approach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29105" y="2984897"/>
            <a:ext cx="5207465" cy="1153914"/>
          </a:xfrm>
          <a:prstGeom prst="roundRect">
            <a:avLst>
              <a:gd name="adj" fmla="val 677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1485" y="3177282"/>
            <a:ext cx="4822704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Patient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1485" y="3651151"/>
            <a:ext cx="4822704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 Dropout risk + </a:t>
            </a:r>
            <a:pPr algn="l" indent="0" marL="0">
              <a:lnSpc>
                <a:spcPct val="132000"/>
              </a:lnSpc>
              <a:buNone/>
            </a:pPr>
            <a:r>
              <a:rPr lang="en-US" sz="1450" b="1" spc="-2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Likely failure stage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6329105" y="4344789"/>
            <a:ext cx="5207465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But if you know whether it's the medicine, the test, or the follow-up visit — then you know what to do.</a:t>
            </a:r>
            <a:endParaRPr lang="en-US" sz="1450" dirty="0"/>
          </a:p>
        </p:txBody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31224" y="5311825"/>
            <a:ext cx="279095" cy="279102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266099" y="5306120"/>
            <a:ext cx="286566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Medicine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1266099" y="5706666"/>
            <a:ext cx="28656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does not collect prescribed medicines.</a:t>
            </a:r>
            <a:endParaRPr lang="en-US" sz="1450" dirty="0"/>
          </a:p>
        </p:txBody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430403" y="5311825"/>
            <a:ext cx="279095" cy="279102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4965278" y="5306120"/>
            <a:ext cx="286566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</a:t>
            </a:r>
            <a:endParaRPr lang="en-US" sz="1800" dirty="0"/>
          </a:p>
        </p:txBody>
      </p:sp>
      <p:sp>
        <p:nvSpPr>
          <p:cNvPr id="19" name="Text 15"/>
          <p:cNvSpPr/>
          <p:nvPr/>
        </p:nvSpPr>
        <p:spPr>
          <a:xfrm>
            <a:off x="4965278" y="5706666"/>
            <a:ext cx="28656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does not complete a required diagnostic test.</a:t>
            </a:r>
            <a:endParaRPr lang="en-US" sz="14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29583" y="5311825"/>
            <a:ext cx="279095" cy="27910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664457" y="5306120"/>
            <a:ext cx="2865763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spc="-5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8664457" y="5706666"/>
            <a:ext cx="2865763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450" spc="-29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Patient does not return for scheduled follow-up.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949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700" b="1" spc="-112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 stage-aware ML?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546622"/>
            <a:ext cx="11478330" cy="302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looked at three options. The question was: how simple, how smart, and how usable for actual health workers?</a:t>
            </a:r>
            <a:endParaRPr lang="en-US" sz="14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061666"/>
            <a:ext cx="3496877" cy="294729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77479" y="2276078"/>
            <a:ext cx="2966467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Simple Dropout Classifier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977479" y="2684760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Pros: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Simple, interpretable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Limitation: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Doesn't tell you where to step in — just says someone's at risk.</a:t>
            </a:r>
            <a:endParaRPr lang="en-US" sz="14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347359" y="2061666"/>
            <a:ext cx="3496877" cy="294729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663363" y="2276078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Sequence / Transformer Model</a:t>
            </a:r>
            <a:endParaRPr lang="en-US" sz="1850" dirty="0"/>
          </a:p>
        </p:txBody>
      </p:sp>
      <p:sp>
        <p:nvSpPr>
          <p:cNvPr id="9" name="Text 5"/>
          <p:cNvSpPr/>
          <p:nvPr/>
        </p:nvSpPr>
        <p:spPr>
          <a:xfrm>
            <a:off x="4663363" y="2980035"/>
            <a:ext cx="2966467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Pros: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Models longitudinal patient events</a:t>
            </a:r>
            <a:endParaRPr lang="en-US" sz="14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Limitation: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Gets complicated fast, hard to explain with our dataset size, and health workers won't understand what it's doing.</a:t>
            </a:r>
            <a:endParaRPr lang="en-US" sz="14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33244" y="2061666"/>
            <a:ext cx="3496877" cy="294729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349247" y="2276078"/>
            <a:ext cx="2966467" cy="590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Stage-Aware Tabular ML ✓ Chosen</a:t>
            </a:r>
            <a:endParaRPr lang="en-US" sz="1850" dirty="0"/>
          </a:p>
        </p:txBody>
      </p:sp>
      <p:sp>
        <p:nvSpPr>
          <p:cNvPr id="12" name="Text 7"/>
          <p:cNvSpPr/>
          <p:nvPr/>
        </p:nvSpPr>
        <p:spPr>
          <a:xfrm>
            <a:off x="8349247" y="2980035"/>
            <a:ext cx="2966467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b="1" spc="-30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Pros:</a:t>
            </a:r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Captures patient history, identifies failure stage, easier to validate and explain, practical for deployment.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661475" y="5221585"/>
            <a:ext cx="10868745" cy="1058366"/>
          </a:xfrm>
          <a:prstGeom prst="roundRect">
            <a:avLst>
              <a:gd name="adj" fmla="val 7501"/>
            </a:avLst>
          </a:prstGeom>
          <a:solidFill>
            <a:srgbClr val="DADBF1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0482" y="5489277"/>
            <a:ext cx="236234" cy="18901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75723" y="5457825"/>
            <a:ext cx="10065490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450" spc="-30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went with the middle option. Smart enough to understand the care journey, but not so complex that it breaks down in the field.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3577"/>
            <a:ext cx="10868745" cy="5630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500" b="1" spc="-10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What the model knows at prediction time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661475" y="1430040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make the prediction right after the consultation, before anything else happens. The model uses four types of information: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61475" y="1904702"/>
            <a:ext cx="5348551" cy="1750913"/>
          </a:xfrm>
          <a:prstGeom prst="roundRect">
            <a:avLst>
              <a:gd name="adj" fmla="val 432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47902" y="2091134"/>
            <a:ext cx="540431" cy="54044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96528" y="2239665"/>
            <a:ext cx="243179" cy="24318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7902" y="2803227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Patient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47902" y="3187700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Age, gender, vulnerability status, NCD history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181670" y="1904702"/>
            <a:ext cx="5348551" cy="1750913"/>
          </a:xfrm>
          <a:prstGeom prst="roundRect">
            <a:avLst>
              <a:gd name="adj" fmla="val 4322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368097" y="2091134"/>
            <a:ext cx="540431" cy="54044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16723" y="2239665"/>
            <a:ext cx="243179" cy="24318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68097" y="2803227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Previous Behavior</a:t>
            </a:r>
            <a:endParaRPr lang="en-US" sz="1750" dirty="0"/>
          </a:p>
        </p:txBody>
      </p:sp>
      <p:sp>
        <p:nvSpPr>
          <p:cNvPr id="13" name="Text 9"/>
          <p:cNvSpPr/>
          <p:nvPr/>
        </p:nvSpPr>
        <p:spPr>
          <a:xfrm>
            <a:off x="6368097" y="3187700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 visits, medicine pickup patterns, missed follow-ups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61475" y="3827264"/>
            <a:ext cx="5348551" cy="2032397"/>
          </a:xfrm>
          <a:prstGeom prst="roundRect">
            <a:avLst>
              <a:gd name="adj" fmla="val 372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47902" y="4013696"/>
            <a:ext cx="540431" cy="54044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96528" y="4162227"/>
            <a:ext cx="243179" cy="24318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7902" y="4725789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Access</a:t>
            </a:r>
            <a:endParaRPr lang="en-US" sz="1750" dirty="0"/>
          </a:p>
        </p:txBody>
      </p:sp>
      <p:sp>
        <p:nvSpPr>
          <p:cNvPr id="18" name="Text 13"/>
          <p:cNvSpPr/>
          <p:nvPr/>
        </p:nvSpPr>
        <p:spPr>
          <a:xfrm>
            <a:off x="847902" y="5110262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Location, distance to facility, connectivity when available</a:t>
            </a:r>
            <a:endParaRPr lang="en-US" sz="1400" dirty="0"/>
          </a:p>
        </p:txBody>
      </p:sp>
      <p:sp>
        <p:nvSpPr>
          <p:cNvPr id="19" name="Shape 14"/>
          <p:cNvSpPr/>
          <p:nvPr/>
        </p:nvSpPr>
        <p:spPr>
          <a:xfrm>
            <a:off x="6181670" y="3827264"/>
            <a:ext cx="5348551" cy="2032397"/>
          </a:xfrm>
          <a:prstGeom prst="roundRect">
            <a:avLst>
              <a:gd name="adj" fmla="val 3723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368097" y="4013696"/>
            <a:ext cx="540431" cy="540445"/>
          </a:xfrm>
          <a:prstGeom prst="ellipse">
            <a:avLst/>
          </a:prstGeom>
          <a:solidFill>
            <a:srgbClr val="4950B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16723" y="4162227"/>
            <a:ext cx="243179" cy="24318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368097" y="4725789"/>
            <a:ext cx="4975696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spc="-53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Consultation</a:t>
            </a:r>
            <a:endParaRPr lang="en-US" sz="1750" dirty="0"/>
          </a:p>
        </p:txBody>
      </p:sp>
      <p:sp>
        <p:nvSpPr>
          <p:cNvPr id="23" name="Text 17"/>
          <p:cNvSpPr/>
          <p:nvPr/>
        </p:nvSpPr>
        <p:spPr>
          <a:xfrm>
            <a:off x="6368097" y="5110262"/>
            <a:ext cx="4975696" cy="5629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Diagnosis, prescribed medicines, needed tests, review schedule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661475" y="6052840"/>
            <a:ext cx="11478330" cy="2814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spc="-28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From those four things, the model outputs two things: how likely the patient is to drop out, and where we think they'll get stuck.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 predict the future without using the future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the rule we built everything around: the model can't use information from after the consultation it's trying to predict.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76027"/>
            <a:ext cx="10868745" cy="48909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98699" y="1337951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Previous visits</a:t>
            </a:r>
            <a:endParaRPr lang="en-US" sz="1850" dirty="0"/>
          </a:p>
        </p:txBody>
      </p:sp>
      <p:sp>
        <p:nvSpPr>
          <p:cNvPr id="6" name="Text 3"/>
          <p:cNvSpPr/>
          <p:nvPr/>
        </p:nvSpPr>
        <p:spPr>
          <a:xfrm>
            <a:off x="2298699" y="1715488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Past encounter records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4179801" y="5006192"/>
            <a:ext cx="191245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Patient profile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4179801" y="5383729"/>
            <a:ext cx="191245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Demographics and history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6040002" y="1154409"/>
            <a:ext cx="1902003" cy="5878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Current consultation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6040002" y="1825874"/>
            <a:ext cx="1902003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Consultation at prediction point</a:t>
            </a:r>
            <a:endParaRPr lang="en-US" sz="1450" dirty="0"/>
          </a:p>
        </p:txBody>
      </p:sp>
      <p:sp>
        <p:nvSpPr>
          <p:cNvPr id="11" name="Text 8"/>
          <p:cNvSpPr/>
          <p:nvPr/>
        </p:nvSpPr>
        <p:spPr>
          <a:xfrm>
            <a:off x="7921104" y="5006192"/>
            <a:ext cx="1902004" cy="2939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events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7921104" y="5383729"/>
            <a:ext cx="1902004" cy="35271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78000"/>
              </a:lnSpc>
              <a:buNone/>
            </a:pPr>
            <a:r>
              <a:rPr lang="en-US" sz="145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 used as model inputs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661475" y="6067326"/>
            <a:ext cx="5319083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00" b="1" spc="-2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 rule in practice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661475" y="6262191"/>
            <a:ext cx="5319083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Consultation: </a:t>
            </a:r>
            <a:pPr algn="l" indent="0" marL="0">
              <a:lnSpc>
                <a:spcPct val="100000"/>
              </a:lnSpc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July 10</a:t>
            </a:r>
            <a:endParaRPr lang="en-US" sz="700" dirty="0"/>
          </a:p>
          <a:p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pickup: </a:t>
            </a:r>
            <a:pPr algn="l" indent="0" marL="0">
              <a:lnSpc>
                <a:spcPct val="100000"/>
              </a:lnSpc>
              <a:spcAft>
                <a:spcPts val="300"/>
              </a:spcAft>
              <a:buNone/>
            </a:pPr>
            <a:r>
              <a:rPr lang="en-US" sz="700" b="1" spc="-1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July 12</a:t>
            </a:r>
            <a:endParaRPr lang="en-US" sz="700" dirty="0"/>
          </a:p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 can't use the July 12 event to predict what happened on July 10. That would be cheating. And a model that cheats on training data falls apart when you actually use it.</a:t>
            </a:r>
            <a:endParaRPr lang="en-US" sz="700" dirty="0"/>
          </a:p>
        </p:txBody>
      </p:sp>
      <p:sp>
        <p:nvSpPr>
          <p:cNvPr id="15" name="Shape 12"/>
          <p:cNvSpPr/>
          <p:nvPr/>
        </p:nvSpPr>
        <p:spPr>
          <a:xfrm>
            <a:off x="6217487" y="6073180"/>
            <a:ext cx="5319083" cy="358973"/>
          </a:xfrm>
          <a:prstGeom prst="roundRect">
            <a:avLst>
              <a:gd name="adj" fmla="val 11058"/>
            </a:avLst>
          </a:prstGeom>
          <a:solidFill>
            <a:srgbClr val="DADBF1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1941" y="6144022"/>
            <a:ext cx="118067" cy="94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524462" y="6139259"/>
            <a:ext cx="4917654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Temporal leakage is easy to miss. But it's a killer — your model looks great in testing, then fails the moment you deploy it.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5150"/>
            <a:ext cx="10868745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250" b="1" spc="-98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 don't give the health worker another probability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475" y="1371302"/>
            <a:ext cx="11478330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isn't here to give health workers another number to think about. Every prediction comes with a concrete next step.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475" y="192672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Example: Patient P003721</a:t>
            </a:r>
            <a:endParaRPr lang="en-US" sz="16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1475" y="2347913"/>
            <a:ext cx="2544004" cy="101987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22017" y="2532261"/>
            <a:ext cx="209911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Dropout Risk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922017" y="2935387"/>
            <a:ext cx="209911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</a:t>
            </a:r>
            <a:endParaRPr lang="en-US" sz="13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50137" y="2347913"/>
            <a:ext cx="2544004" cy="101987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10678" y="2532261"/>
            <a:ext cx="209911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Likely Stage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610678" y="2935387"/>
            <a:ext cx="2099119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Medicine collection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3512443"/>
            <a:ext cx="2544004" cy="176401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22017" y="3696791"/>
            <a:ext cx="209911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Why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922017" y="4099917"/>
            <a:ext cx="2099119" cy="744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They've missed pickups before, and getting to the facility is hard.</a:t>
            </a:r>
            <a:endParaRPr lang="en-US" sz="130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350137" y="3512443"/>
            <a:ext cx="2544004" cy="176401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610678" y="3696791"/>
            <a:ext cx="209911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Action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3610678" y="4099917"/>
            <a:ext cx="2099119" cy="9921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Call the patient, check if they can get to the pharmacy, help arrange transport if needed.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303904" y="1926729"/>
            <a:ext cx="523266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→ Action Mapping</a:t>
            </a:r>
            <a:endParaRPr lang="en-US" sz="16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65914" y="2352973"/>
            <a:ext cx="248041" cy="248047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6841259" y="2347913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Medicine risk</a:t>
            </a:r>
            <a:endParaRPr lang="en-US" sz="1600" dirty="0"/>
          </a:p>
        </p:txBody>
      </p:sp>
      <p:sp>
        <p:nvSpPr>
          <p:cNvPr id="20" name="Text 13"/>
          <p:cNvSpPr/>
          <p:nvPr/>
        </p:nvSpPr>
        <p:spPr>
          <a:xfrm>
            <a:off x="6841259" y="2751038"/>
            <a:ext cx="4695311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if they can get to the pharmacy, help with transport if that's the problem.</a:t>
            </a:r>
            <a:endParaRPr lang="en-US" sz="13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365914" y="3541613"/>
            <a:ext cx="248041" cy="248047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6841259" y="3536553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 risk</a:t>
            </a:r>
            <a:endParaRPr lang="en-US" sz="1600" dirty="0"/>
          </a:p>
        </p:txBody>
      </p:sp>
      <p:sp>
        <p:nvSpPr>
          <p:cNvPr id="23" name="Text 15"/>
          <p:cNvSpPr/>
          <p:nvPr/>
        </p:nvSpPr>
        <p:spPr>
          <a:xfrm>
            <a:off x="6841259" y="3939679"/>
            <a:ext cx="469531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Help schedule or accompany patient for test completion</a:t>
            </a:r>
            <a:endParaRPr lang="en-US" sz="1300" dirty="0"/>
          </a:p>
        </p:txBody>
      </p:sp>
      <p:pic>
        <p:nvPicPr>
          <p:cNvPr id="24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65914" y="4482207"/>
            <a:ext cx="248041" cy="248047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6841259" y="4477147"/>
            <a:ext cx="4695311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b="1" spc="-49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Review risk</a:t>
            </a:r>
            <a:endParaRPr lang="en-US" sz="1600" dirty="0"/>
          </a:p>
        </p:txBody>
      </p:sp>
      <p:sp>
        <p:nvSpPr>
          <p:cNvPr id="26" name="Text 17"/>
          <p:cNvSpPr/>
          <p:nvPr/>
        </p:nvSpPr>
        <p:spPr>
          <a:xfrm>
            <a:off x="6841259" y="4880273"/>
            <a:ext cx="4695311" cy="248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Send reminder + assist with review scheduling</a:t>
            </a:r>
            <a:endParaRPr lang="en-US" sz="1300" dirty="0"/>
          </a:p>
        </p:txBody>
      </p:sp>
      <p:sp>
        <p:nvSpPr>
          <p:cNvPr id="27" name="Shape 18"/>
          <p:cNvSpPr/>
          <p:nvPr/>
        </p:nvSpPr>
        <p:spPr>
          <a:xfrm>
            <a:off x="6303904" y="5291038"/>
            <a:ext cx="5232666" cy="838994"/>
          </a:xfrm>
          <a:prstGeom prst="roundRect">
            <a:avLst>
              <a:gd name="adj" fmla="val 8279"/>
            </a:avLst>
          </a:prstGeom>
          <a:solidFill>
            <a:srgbClr val="DADBF1"/>
          </a:solidFill>
          <a:ln/>
        </p:spPr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69198" y="5516463"/>
            <a:ext cx="206667" cy="16529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841160" y="5462488"/>
            <a:ext cx="4530116" cy="4960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spc="-26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 is a tool for the health worker, not a replacement for their judgment.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50" b="1" spc="-56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fragmented records to follow-up assurance</a:t>
            </a:r>
            <a:endParaRPr lang="en-US" sz="1850" dirty="0"/>
          </a:p>
        </p:txBody>
      </p:sp>
      <p:sp>
        <p:nvSpPr>
          <p:cNvPr id="3" name="Text 1"/>
          <p:cNvSpPr/>
          <p:nvPr/>
        </p:nvSpPr>
        <p:spPr>
          <a:xfrm>
            <a:off x="661475" y="909538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is how it all fits together — from messy data to an actual action the health worker can take. And every step is traceable, so if something seems off, you can follow it back to the source.</a:t>
            </a:r>
            <a:endParaRPr lang="en-US" sz="7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76027"/>
            <a:ext cx="9753356" cy="5486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61475" y="6615509"/>
            <a:ext cx="11478330" cy="1134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700" spc="-1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 a prediction doesn't look right, you can trace it back through the whole chain to see where it came from.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1491"/>
            <a:ext cx="10868745" cy="4799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000" b="1" spc="-91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Does the model actually help?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61475" y="1390948"/>
            <a:ext cx="11478330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We're looking at three things — not just whether the model is accurate, but whether it actually works in the real world.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61475" y="1878608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Predictive Performance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61475" y="2243237"/>
            <a:ext cx="5247052" cy="488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ROC-AUC, PR-AUC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Precision, Recall, F1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61475" y="2856905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Stage Prediction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61475" y="3221534"/>
            <a:ext cx="5247052" cy="7552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Macro-F1 across stages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Per-stage performance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Confusion matrix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61475" y="4101505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Operational Usefulness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61475" y="4466134"/>
            <a:ext cx="5247052" cy="7115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many of the patients we flag as highest-risk actually do drop out</a:t>
            </a:r>
            <a:endParaRPr lang="en-US" sz="1200" dirty="0"/>
          </a:p>
          <a:p>
            <a:pPr algn="l" marL="243840" indent="-243840">
              <a:lnSpc>
                <a:spcPct val="121000"/>
              </a:lnSpc>
              <a:buSzPct val="100000"/>
              <a:buChar char="•"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Whether the predictions are reliable, and how many patients we'd actually need to follow up with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89518" y="1878608"/>
            <a:ext cx="5247052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Temporal Validation Strategy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903469" y="2258814"/>
            <a:ext cx="19050" cy="2910681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2" name="Shape 10"/>
          <p:cNvSpPr/>
          <p:nvPr/>
        </p:nvSpPr>
        <p:spPr>
          <a:xfrm>
            <a:off x="8624969" y="2422029"/>
            <a:ext cx="307074" cy="1905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3" name="Shape 11"/>
          <p:cNvSpPr/>
          <p:nvPr/>
        </p:nvSpPr>
        <p:spPr>
          <a:xfrm>
            <a:off x="8855449" y="2374007"/>
            <a:ext cx="115091" cy="115094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6289518" y="2311598"/>
            <a:ext cx="200922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89518" y="2676227"/>
            <a:ext cx="200922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Earlier development data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893945" y="3285827"/>
            <a:ext cx="307074" cy="1905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17" name="Shape 15"/>
          <p:cNvSpPr/>
          <p:nvPr/>
        </p:nvSpPr>
        <p:spPr>
          <a:xfrm>
            <a:off x="8855449" y="3237805"/>
            <a:ext cx="115091" cy="115094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9527242" y="3175397"/>
            <a:ext cx="2009328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527242" y="3540026"/>
            <a:ext cx="2009328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Later development data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624969" y="4051300"/>
            <a:ext cx="307074" cy="19050"/>
          </a:xfrm>
          <a:prstGeom prst="roundRect">
            <a:avLst>
              <a:gd name="adj" fmla="val 49999"/>
            </a:avLst>
          </a:prstGeom>
          <a:solidFill>
            <a:srgbClr val="C0C1D7"/>
          </a:solidFill>
          <a:ln/>
        </p:spPr>
      </p:sp>
      <p:sp>
        <p:nvSpPr>
          <p:cNvPr id="21" name="Shape 19"/>
          <p:cNvSpPr/>
          <p:nvPr/>
        </p:nvSpPr>
        <p:spPr>
          <a:xfrm>
            <a:off x="8855449" y="4003278"/>
            <a:ext cx="115091" cy="115094"/>
          </a:xfrm>
          <a:prstGeom prst="ellipse">
            <a:avLst/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6289518" y="3940870"/>
            <a:ext cx="2009229" cy="2399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1500" b="1" spc="-4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289518" y="4305498"/>
            <a:ext cx="2009229" cy="2226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Future evaluation cohort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89518" y="5309791"/>
            <a:ext cx="5247052" cy="746323"/>
          </a:xfrm>
          <a:prstGeom prst="roundRect">
            <a:avLst>
              <a:gd name="adj" fmla="val 8643"/>
            </a:avLst>
          </a:prstGeom>
          <a:solidFill>
            <a:srgbClr val="DADBF1"/>
          </a:solidFill>
          <a:ln/>
        </p:spPr>
      </p:sp>
      <p:pic>
        <p:nvPicPr>
          <p:cNvPr id="2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3005" y="5503565"/>
            <a:ext cx="191884" cy="153491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6788377" y="5460305"/>
            <a:ext cx="4594705" cy="4452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200" spc="-24" kern="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We're not showing numbers here — those will come from the actual evaluation. But this is how we'll measure whether it works.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7453"/>
            <a:ext cx="10868745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spc="-94" kern="0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 the risk. Find the break. Act early.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900685" y="1496219"/>
            <a:ext cx="10629535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spc="-25" kern="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We're not just flagging who might drop out. We're identifying where the care journey is likely to break, and turning that into something the health worker can actually act on.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61475" y="1344910"/>
            <a:ext cx="19050" cy="772914"/>
          </a:xfrm>
          <a:prstGeom prst="roundRect">
            <a:avLst>
              <a:gd name="adj" fmla="val 49999"/>
            </a:avLst>
          </a:prstGeom>
          <a:solidFill>
            <a:srgbClr val="4950BC"/>
          </a:solidFill>
          <a:ln/>
        </p:spPr>
      </p:sp>
      <p:sp>
        <p:nvSpPr>
          <p:cNvPr id="5" name="Shape 3"/>
          <p:cNvSpPr/>
          <p:nvPr/>
        </p:nvSpPr>
        <p:spPr>
          <a:xfrm>
            <a:off x="661475" y="2269133"/>
            <a:ext cx="3533191" cy="478433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08465" y="2388691"/>
            <a:ext cx="239210" cy="2392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0915" y="2882106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Link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4329203" y="2269133"/>
            <a:ext cx="3533191" cy="478433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6193" y="2388691"/>
            <a:ext cx="239210" cy="23921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488643" y="2882106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</a:t>
            </a:r>
            <a:endParaRPr lang="en-US" sz="1550" dirty="0"/>
          </a:p>
        </p:txBody>
      </p:sp>
      <p:sp>
        <p:nvSpPr>
          <p:cNvPr id="11" name="Shape 7"/>
          <p:cNvSpPr/>
          <p:nvPr/>
        </p:nvSpPr>
        <p:spPr>
          <a:xfrm>
            <a:off x="7996930" y="2269133"/>
            <a:ext cx="3533191" cy="478433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43920" y="2388691"/>
            <a:ext cx="239210" cy="23921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156371" y="2882106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Identify Stage</a:t>
            </a:r>
            <a:endParaRPr lang="en-US" sz="1550" dirty="0"/>
          </a:p>
        </p:txBody>
      </p:sp>
      <p:sp>
        <p:nvSpPr>
          <p:cNvPr id="14" name="Shape 9"/>
          <p:cNvSpPr/>
          <p:nvPr/>
        </p:nvSpPr>
        <p:spPr>
          <a:xfrm>
            <a:off x="661475" y="3425230"/>
            <a:ext cx="3533191" cy="478433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08465" y="3544788"/>
            <a:ext cx="239210" cy="239216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20915" y="4038203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</a:t>
            </a:r>
            <a:endParaRPr lang="en-US" sz="1550" dirty="0"/>
          </a:p>
        </p:txBody>
      </p:sp>
      <p:sp>
        <p:nvSpPr>
          <p:cNvPr id="17" name="Shape 11"/>
          <p:cNvSpPr/>
          <p:nvPr/>
        </p:nvSpPr>
        <p:spPr>
          <a:xfrm>
            <a:off x="4329203" y="3425230"/>
            <a:ext cx="3533191" cy="478433"/>
          </a:xfrm>
          <a:prstGeom prst="roundRect">
            <a:avLst>
              <a:gd name="adj" fmla="val 49999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976193" y="3544788"/>
            <a:ext cx="239210" cy="23921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4488643" y="4038203"/>
            <a:ext cx="3214309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Measure</a:t>
            </a:r>
            <a:endParaRPr lang="en-US" sz="1550" dirty="0"/>
          </a:p>
        </p:txBody>
      </p:sp>
      <p:sp>
        <p:nvSpPr>
          <p:cNvPr id="20" name="Shape 13"/>
          <p:cNvSpPr/>
          <p:nvPr/>
        </p:nvSpPr>
        <p:spPr>
          <a:xfrm>
            <a:off x="661475" y="4598095"/>
            <a:ext cx="3533191" cy="580727"/>
          </a:xfrm>
          <a:prstGeom prst="roundRect">
            <a:avLst>
              <a:gd name="adj" fmla="val 1153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1" name="Text 14"/>
          <p:cNvSpPr/>
          <p:nvPr/>
        </p:nvSpPr>
        <p:spPr>
          <a:xfrm>
            <a:off x="827265" y="4763889"/>
            <a:ext cx="32016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Uses fragmented data</a:t>
            </a:r>
            <a:endParaRPr lang="en-US" sz="1550" dirty="0"/>
          </a:p>
        </p:txBody>
      </p:sp>
      <p:sp>
        <p:nvSpPr>
          <p:cNvPr id="22" name="Shape 15"/>
          <p:cNvSpPr/>
          <p:nvPr/>
        </p:nvSpPr>
        <p:spPr>
          <a:xfrm>
            <a:off x="4329203" y="4598095"/>
            <a:ext cx="3533191" cy="580727"/>
          </a:xfrm>
          <a:prstGeom prst="roundRect">
            <a:avLst>
              <a:gd name="adj" fmla="val 1153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3" name="Text 16"/>
          <p:cNvSpPr/>
          <p:nvPr/>
        </p:nvSpPr>
        <p:spPr>
          <a:xfrm>
            <a:off x="4494993" y="4763889"/>
            <a:ext cx="32016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Respects rural constraints</a:t>
            </a:r>
            <a:endParaRPr lang="en-US" sz="1550" dirty="0"/>
          </a:p>
        </p:txBody>
      </p:sp>
      <p:sp>
        <p:nvSpPr>
          <p:cNvPr id="24" name="Shape 17"/>
          <p:cNvSpPr/>
          <p:nvPr/>
        </p:nvSpPr>
        <p:spPr>
          <a:xfrm>
            <a:off x="7996930" y="4598095"/>
            <a:ext cx="3533191" cy="580727"/>
          </a:xfrm>
          <a:prstGeom prst="roundRect">
            <a:avLst>
              <a:gd name="adj" fmla="val 1153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5" name="Text 18"/>
          <p:cNvSpPr/>
          <p:nvPr/>
        </p:nvSpPr>
        <p:spPr>
          <a:xfrm>
            <a:off x="8162721" y="4763889"/>
            <a:ext cx="3201610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Interpretable by design</a:t>
            </a:r>
            <a:endParaRPr lang="en-US" sz="1550" dirty="0"/>
          </a:p>
        </p:txBody>
      </p:sp>
      <p:sp>
        <p:nvSpPr>
          <p:cNvPr id="26" name="Shape 19"/>
          <p:cNvSpPr/>
          <p:nvPr/>
        </p:nvSpPr>
        <p:spPr>
          <a:xfrm>
            <a:off x="661475" y="5313363"/>
            <a:ext cx="5367005" cy="580727"/>
          </a:xfrm>
          <a:prstGeom prst="roundRect">
            <a:avLst>
              <a:gd name="adj" fmla="val 1153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7" name="Text 20"/>
          <p:cNvSpPr/>
          <p:nvPr/>
        </p:nvSpPr>
        <p:spPr>
          <a:xfrm>
            <a:off x="827265" y="5479157"/>
            <a:ext cx="5035424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Prediction → Action</a:t>
            </a:r>
            <a:endParaRPr lang="en-US" sz="1550" dirty="0"/>
          </a:p>
        </p:txBody>
      </p:sp>
      <p:sp>
        <p:nvSpPr>
          <p:cNvPr id="28" name="Shape 21"/>
          <p:cNvSpPr/>
          <p:nvPr/>
        </p:nvSpPr>
        <p:spPr>
          <a:xfrm>
            <a:off x="6163017" y="5313363"/>
            <a:ext cx="5367104" cy="580727"/>
          </a:xfrm>
          <a:prstGeom prst="roundRect">
            <a:avLst>
              <a:gd name="adj" fmla="val 11534"/>
            </a:avLst>
          </a:prstGeom>
          <a:solidFill>
            <a:srgbClr val="DADBF1"/>
          </a:solidFill>
          <a:ln w="6350">
            <a:solidFill>
              <a:srgbClr val="C0C1D7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328807" y="5479157"/>
            <a:ext cx="5035523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50" b="1" spc="-47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Evaluable in deployment</a:t>
            </a:r>
            <a:endParaRPr lang="en-US" sz="1550" dirty="0"/>
          </a:p>
        </p:txBody>
      </p:sp>
      <p:sp>
        <p:nvSpPr>
          <p:cNvPr id="30" name="Text 23"/>
          <p:cNvSpPr/>
          <p:nvPr/>
        </p:nvSpPr>
        <p:spPr>
          <a:xfrm>
            <a:off x="661475" y="6045398"/>
            <a:ext cx="11478330" cy="235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250" b="1" spc="-25" kern="0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From the consultation to care that actually gets completed.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4950BC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2026-09-28T18:19:52Z</dcterms:created>
  <dcterms:modified xsi:type="dcterms:W3CDTF">2026-09-28T18:19:52Z</dcterms:modified>
</cp:coreProperties>
</file>