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nter Bold"/>
      <p:regular r:id="rId201314"/>
    </p:embeddedFont>
    <p:embeddedFont>
      <p:font typeface="Inter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1.png"/><Relationship Id="rId4" Type="http://schemas.openxmlformats.org/officeDocument/2006/relationships/image" Target="../media/image-3-2.svg"/><Relationship Id="rId5" Type="http://schemas.openxmlformats.org/officeDocument/2006/relationships/image" Target="../media/image-3-1.png"/><Relationship Id="rId6" Type="http://schemas.openxmlformats.org/officeDocument/2006/relationships/image" Target="../media/image-3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1.png"/><Relationship Id="rId4" Type="http://schemas.openxmlformats.org/officeDocument/2006/relationships/image" Target="../media/image-4-2.svg"/><Relationship Id="rId5" Type="http://schemas.openxmlformats.org/officeDocument/2006/relationships/image" Target="../media/image-4-1.png"/><Relationship Id="rId6" Type="http://schemas.openxmlformats.org/officeDocument/2006/relationships/image" Target="../media/image-4-2.sv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1.png"/><Relationship Id="rId4" Type="http://schemas.openxmlformats.org/officeDocument/2006/relationships/image" Target="../media/image-7-2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5.png"/><Relationship Id="rId8" Type="http://schemas.openxmlformats.org/officeDocument/2006/relationships/image" Target="../media/image-7-6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9.png"/><Relationship Id="rId12" Type="http://schemas.openxmlformats.org/officeDocument/2006/relationships/image" Target="../media/image-7-10.svg"/><Relationship Id="rId13" Type="http://schemas.openxmlformats.org/officeDocument/2006/relationships/image" Target="../media/image-7-9.png"/><Relationship Id="rId14" Type="http://schemas.openxmlformats.org/officeDocument/2006/relationships/image" Target="../media/image-7-10.svg"/><Relationship Id="rId15" Type="http://schemas.openxmlformats.org/officeDocument/2006/relationships/image" Target="../media/image-7-15.png"/><Relationship Id="rId16" Type="http://schemas.openxmlformats.org/officeDocument/2006/relationships/slideLayout" Target="../slideLayouts/slideLayout2.xml"/><Relationship Id="rId1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713482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consultation is not the end of the journey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2178248"/>
            <a:ext cx="6296860" cy="2027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teleconsultation connects a rural patient with a doctor — but care continues long after the call ends. Patients must collect medicines, complete tests, and return for review. Some fall out at different points along the way.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real challenge is not completing the consultation — it is completing the care journey.</a:t>
            </a:r>
            <a:endParaRPr lang="en-US" sz="1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360" y="4418013"/>
            <a:ext cx="6296860" cy="172640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992397" y="5041853"/>
            <a:ext cx="951560" cy="340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spc="-3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Teleconsultation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5992397" y="5431081"/>
            <a:ext cx="951560" cy="408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Completed remotely with doctor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7276667" y="4919178"/>
            <a:ext cx="951559" cy="340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spc="-3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Medicine Collection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7276667" y="5308406"/>
            <a:ext cx="951559" cy="272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must obtain prescribed meds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8585167" y="5041853"/>
            <a:ext cx="951559" cy="170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spc="-3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Required Test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8585167" y="5260699"/>
            <a:ext cx="951559" cy="272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or diagnostic tests needed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9881553" y="5089559"/>
            <a:ext cx="951560" cy="170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spc="-3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Review Visit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9881553" y="5308406"/>
            <a:ext cx="951560" cy="272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Follow-up to assess treatment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patient exists across multiple systems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09538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noticed that patient records are scattered across different systems — different IDs, different formats, incomplete pictures. Before predicting risk, we first need to know that the records belong to the same person.</a:t>
            </a:r>
            <a:endParaRPr lang="en-US" sz="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129109"/>
            <a:ext cx="5319083" cy="5319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17487" y="3482280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Record Linkage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217487" y="3677146"/>
            <a:ext cx="592866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link records across systems using name, phone, demographics, and geography — with fuzzy matching where required.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6217487" y="3843635"/>
            <a:ext cx="5319083" cy="245566"/>
          </a:xfrm>
          <a:prstGeom prst="roundRect">
            <a:avLst>
              <a:gd name="adj" fmla="val 16164"/>
            </a:avLst>
          </a:prstGeom>
          <a:solidFill>
            <a:srgbClr val="DADBF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1941" y="3914477"/>
            <a:ext cx="118067" cy="94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24462" y="3909715"/>
            <a:ext cx="5527239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Different records → different IDs → incomplete patient picture. The Patient 360 is our foundation.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313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Dropout is not one event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611809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considered a simple dropout classifier. But a single score tells us </a:t>
            </a:r>
            <a:pPr algn="l" indent="0" marL="0">
              <a:lnSpc>
                <a:spcPct val="133000"/>
              </a:lnSpc>
              <a:buNone/>
            </a:pPr>
            <a:r>
              <a:rPr lang="en-US" sz="1450" i="1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worry about — not </a:t>
            </a:r>
            <a:pPr algn="l" indent="0" marL="0">
              <a:lnSpc>
                <a:spcPct val="133000"/>
              </a:lnSpc>
              <a:buNone/>
            </a:pPr>
            <a:r>
              <a:rPr lang="en-US" sz="1450" i="1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do next. The stage of likely failure is what makes the prediction actionable.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2618284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Generic Model</a:t>
            </a:r>
            <a:endParaRPr lang="en-US" sz="1850" dirty="0"/>
          </a:p>
        </p:txBody>
      </p:sp>
      <p:sp>
        <p:nvSpPr>
          <p:cNvPr id="5" name="Shape 3"/>
          <p:cNvSpPr/>
          <p:nvPr/>
        </p:nvSpPr>
        <p:spPr>
          <a:xfrm>
            <a:off x="661475" y="3126184"/>
            <a:ext cx="5203794" cy="1177429"/>
          </a:xfrm>
          <a:prstGeom prst="roundRect">
            <a:avLst>
              <a:gd name="adj" fmla="val 674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6832" y="3321546"/>
            <a:ext cx="48130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Patient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56832" y="3805833"/>
            <a:ext cx="481308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Dropout / No Dropout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61475" y="4516239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score. No guidance on where or why.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332776" y="2618284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Our Approach</a:t>
            </a:r>
            <a:endParaRPr lang="en-US" sz="1850" dirty="0"/>
          </a:p>
        </p:txBody>
      </p:sp>
      <p:sp>
        <p:nvSpPr>
          <p:cNvPr id="10" name="Shape 8"/>
          <p:cNvSpPr/>
          <p:nvPr/>
        </p:nvSpPr>
        <p:spPr>
          <a:xfrm>
            <a:off x="6332776" y="3126184"/>
            <a:ext cx="5203794" cy="1177429"/>
          </a:xfrm>
          <a:prstGeom prst="roundRect">
            <a:avLst>
              <a:gd name="adj" fmla="val 674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28133" y="3321546"/>
            <a:ext cx="48130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Patient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6528133" y="3805833"/>
            <a:ext cx="481308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Dropout risk +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Likely failure stage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332776" y="4516239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Medicine, Test, or Review — each triggers a different action.</a:t>
            </a:r>
            <a:endParaRPr lang="en-US" sz="14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2315" y="5207198"/>
            <a:ext cx="283461" cy="28346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275723" y="5201345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Medicine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1275723" y="5610027"/>
            <a:ext cx="285117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does not collect prescribed medicines.</a:t>
            </a:r>
            <a:endParaRPr lang="en-US" sz="14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33975" y="5207198"/>
            <a:ext cx="283461" cy="28346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977383" y="5201345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Test</a:t>
            </a:r>
            <a:endParaRPr lang="en-US" sz="1850" dirty="0"/>
          </a:p>
        </p:txBody>
      </p:sp>
      <p:sp>
        <p:nvSpPr>
          <p:cNvPr id="19" name="Text 15"/>
          <p:cNvSpPr/>
          <p:nvPr/>
        </p:nvSpPr>
        <p:spPr>
          <a:xfrm>
            <a:off x="4977383" y="5610027"/>
            <a:ext cx="285117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does not complete a required diagnostic test.</a:t>
            </a:r>
            <a:endParaRPr lang="en-US" sz="14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35635" y="5207198"/>
            <a:ext cx="283461" cy="28346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679042" y="5201345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Review</a:t>
            </a:r>
            <a:endParaRPr lang="en-US" sz="1850" dirty="0"/>
          </a:p>
        </p:txBody>
      </p:sp>
      <p:sp>
        <p:nvSpPr>
          <p:cNvPr id="22" name="Text 17"/>
          <p:cNvSpPr/>
          <p:nvPr/>
        </p:nvSpPr>
        <p:spPr>
          <a:xfrm>
            <a:off x="8679042" y="5610027"/>
            <a:ext cx="285117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does not return for scheduled follow-up.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2915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stage-aware ML?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697831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considered three approaches. The trade-off was between simplicity, intelligence, and practicality for frontline use.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212876"/>
            <a:ext cx="3496877" cy="294729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77479" y="2427288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Simple Dropout Classifier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977479" y="2835970"/>
            <a:ext cx="296646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Pros: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Simple, interpretable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Limitation: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Doesn't identify the intervention point — just flags risk without direction.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2212876"/>
            <a:ext cx="3496877" cy="294729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63363" y="2427288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Sequence / Transformer Model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4663363" y="3131245"/>
            <a:ext cx="296646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Pros: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Models longitudinal patient events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Limitation: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More complex, harder to justify with ~5,000 patients, less transparent for frontline workers.</a:t>
            </a:r>
            <a:endParaRPr lang="en-US" sz="14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33244" y="2212876"/>
            <a:ext cx="3496877" cy="294729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349247" y="2427288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Stage-Aware Tabular ML ✓ Chosen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8349247" y="3131245"/>
            <a:ext cx="296646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Pros: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Captures patient history, identifies failure stage, easier to validate and explain, practical for deployment.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661475" y="5372795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DADBF1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482" y="5640487"/>
            <a:ext cx="236234" cy="18901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75723" y="5609034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chose the middle ground: enough intelligence to understand the care journey, without unnecessary complexity.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3577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b="1" spc="-10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the model knows at prediction time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430040"/>
            <a:ext cx="1147833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Prediction happens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immediately after consultation</a:t>
            </a:r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before any follow-up events occur. The model draws on four feature groups: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61475" y="1904702"/>
            <a:ext cx="5348551" cy="1750913"/>
          </a:xfrm>
          <a:prstGeom prst="roundRect">
            <a:avLst>
              <a:gd name="adj" fmla="val 432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7902" y="2091134"/>
            <a:ext cx="540431" cy="540445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6528" y="2239665"/>
            <a:ext cx="243179" cy="24318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7902" y="2803227"/>
            <a:ext cx="497569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spc="-5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Patient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47902" y="3187700"/>
            <a:ext cx="497569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Age, gender, vulnerability status, NCD history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81670" y="1904702"/>
            <a:ext cx="5348551" cy="1750913"/>
          </a:xfrm>
          <a:prstGeom prst="roundRect">
            <a:avLst>
              <a:gd name="adj" fmla="val 432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68097" y="2091134"/>
            <a:ext cx="540431" cy="540445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16723" y="2239665"/>
            <a:ext cx="243179" cy="24318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68097" y="2803227"/>
            <a:ext cx="497569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spc="-5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Previous Behavior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6368097" y="3187700"/>
            <a:ext cx="497569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 visits, medicine collection patterns, missed follow-ups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61475" y="3827264"/>
            <a:ext cx="5348551" cy="2032397"/>
          </a:xfrm>
          <a:prstGeom prst="roundRect">
            <a:avLst>
              <a:gd name="adj" fmla="val 372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7902" y="4013696"/>
            <a:ext cx="540431" cy="540445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6528" y="4162227"/>
            <a:ext cx="243179" cy="24318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7902" y="4725789"/>
            <a:ext cx="497569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spc="-5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Access</a:t>
            </a:r>
            <a:endParaRPr lang="en-US" sz="1750" dirty="0"/>
          </a:p>
        </p:txBody>
      </p:sp>
      <p:sp>
        <p:nvSpPr>
          <p:cNvPr id="18" name="Text 13"/>
          <p:cNvSpPr/>
          <p:nvPr/>
        </p:nvSpPr>
        <p:spPr>
          <a:xfrm>
            <a:off x="847902" y="5110262"/>
            <a:ext cx="497569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Geography, distance to facility, connectivity where available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181670" y="3827264"/>
            <a:ext cx="5348551" cy="2032397"/>
          </a:xfrm>
          <a:prstGeom prst="roundRect">
            <a:avLst>
              <a:gd name="adj" fmla="val 372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368097" y="4013696"/>
            <a:ext cx="540431" cy="540445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16723" y="4162227"/>
            <a:ext cx="243179" cy="24318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68097" y="4725789"/>
            <a:ext cx="497569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spc="-5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Current Consultation</a:t>
            </a:r>
            <a:endParaRPr lang="en-US" sz="1750" dirty="0"/>
          </a:p>
        </p:txBody>
      </p:sp>
      <p:sp>
        <p:nvSpPr>
          <p:cNvPr id="23" name="Text 17"/>
          <p:cNvSpPr/>
          <p:nvPr/>
        </p:nvSpPr>
        <p:spPr>
          <a:xfrm>
            <a:off x="6368097" y="5110262"/>
            <a:ext cx="4975696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Diagnosis, prescribed medicines, required tests, review schedule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661475" y="6052840"/>
            <a:ext cx="1147833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Features feed two outputs: a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dropout risk probability</a:t>
            </a:r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a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likely failure stage</a:t>
            </a:r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(Medicine / Test / Review).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 predict the future without using the future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09538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our most important design rule. The model must not see events that happen </a:t>
            </a:r>
            <a:pPr algn="l" indent="0" marL="0">
              <a:lnSpc>
                <a:spcPct val="100000"/>
              </a:lnSpc>
              <a:buNone/>
            </a:pPr>
            <a:r>
              <a:rPr lang="en-US" sz="700" i="1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</a:t>
            </a:r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consultation it's predicting for.</a:t>
            </a:r>
            <a:endParaRPr lang="en-US" sz="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076027"/>
            <a:ext cx="10868745" cy="48909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98699" y="1337951"/>
            <a:ext cx="1902004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Previous visits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2298699" y="1715488"/>
            <a:ext cx="1902004" cy="352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4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Past encounter records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179801" y="5006192"/>
            <a:ext cx="1912454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Patient profile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4179801" y="5383729"/>
            <a:ext cx="1912454" cy="352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4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Demographics and history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040002" y="1154409"/>
            <a:ext cx="1902003" cy="587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Current consultation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6040002" y="1825874"/>
            <a:ext cx="1902003" cy="352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4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Consultation at prediction point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921104" y="5006192"/>
            <a:ext cx="1902004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Future events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7921104" y="5383729"/>
            <a:ext cx="1902004" cy="352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4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used as model inputs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61475" y="6067326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rule in practice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61475" y="6262191"/>
            <a:ext cx="5319083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Consultation: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spc="-1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July 10</a:t>
            </a:r>
            <a:endParaRPr lang="en-US" sz="7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Medicine pickup: </a:t>
            </a:r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700" b="1" spc="-1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July 12</a:t>
            </a:r>
            <a:endParaRPr lang="en-US" sz="7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July 12 event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spc="-1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cannot</a:t>
            </a:r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 used to predict the July 10 outcome. This prevents temporal leakage and makes the model usable in real deployment.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6217487" y="6073180"/>
            <a:ext cx="5319083" cy="358973"/>
          </a:xfrm>
          <a:prstGeom prst="roundRect">
            <a:avLst>
              <a:gd name="adj" fmla="val 11058"/>
            </a:avLst>
          </a:prstGeom>
          <a:solidFill>
            <a:srgbClr val="DADBF1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1941" y="6144022"/>
            <a:ext cx="118067" cy="9445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524462" y="6139259"/>
            <a:ext cx="4917654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Temporal leakage is a common ML mistake. We designed around it deliberately — because a model that cheats on training data fails in the field.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4690"/>
            <a:ext cx="1086874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b="1" spc="-101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 don't give the health worker another probability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661475" y="1380430"/>
            <a:ext cx="11478330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model's job is to support the ASHA/CHO — not add to their cognitive load. Every prediction comes with a recommended next step.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1971477"/>
            <a:ext cx="5225423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spc="-51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Example: Patient P003721</a:t>
            </a:r>
            <a:endParaRPr lang="en-US" sz="16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413695"/>
            <a:ext cx="2535075" cy="106461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27970" y="2603996"/>
            <a:ext cx="2078283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spc="-5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Dropout Risk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927970" y="3026767"/>
            <a:ext cx="2078283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51724" y="2413695"/>
            <a:ext cx="2535174" cy="106461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18219" y="2603996"/>
            <a:ext cx="2078382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spc="-5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Likely Stage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3618219" y="3026767"/>
            <a:ext cx="2078382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Medicine collection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633490"/>
            <a:ext cx="2535075" cy="158710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27970" y="3823791"/>
            <a:ext cx="2078283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spc="-5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</a:t>
            </a:r>
            <a:endParaRPr lang="en-US" sz="1650" dirty="0"/>
          </a:p>
        </p:txBody>
      </p:sp>
      <p:sp>
        <p:nvSpPr>
          <p:cNvPr id="13" name="Text 8"/>
          <p:cNvSpPr/>
          <p:nvPr/>
        </p:nvSpPr>
        <p:spPr>
          <a:xfrm>
            <a:off x="927970" y="4246563"/>
            <a:ext cx="2078283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Previous low pickup history + access difficulty</a:t>
            </a:r>
            <a:endParaRPr lang="en-US" sz="13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51724" y="3633490"/>
            <a:ext cx="2535174" cy="158710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618219" y="3823791"/>
            <a:ext cx="2078382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spc="-5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Action</a:t>
            </a:r>
            <a:endParaRPr lang="en-US" sz="1650" dirty="0"/>
          </a:p>
        </p:txBody>
      </p:sp>
      <p:sp>
        <p:nvSpPr>
          <p:cNvPr id="16" name="Text 10"/>
          <p:cNvSpPr/>
          <p:nvPr/>
        </p:nvSpPr>
        <p:spPr>
          <a:xfrm>
            <a:off x="3618219" y="4246563"/>
            <a:ext cx="2078382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 patient → confirm availability → facilitate pickup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6311147" y="1971477"/>
            <a:ext cx="5225423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spc="-51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Stage → Action Mapping</a:t>
            </a:r>
            <a:endParaRPr lang="en-US" sz="16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75340" y="2418953"/>
            <a:ext cx="256871" cy="256877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867750" y="2413695"/>
            <a:ext cx="466882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spc="-5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Medicine risk</a:t>
            </a:r>
            <a:endParaRPr lang="en-US" sz="1650" dirty="0"/>
          </a:p>
        </p:txBody>
      </p:sp>
      <p:sp>
        <p:nvSpPr>
          <p:cNvPr id="20" name="Text 13"/>
          <p:cNvSpPr/>
          <p:nvPr/>
        </p:nvSpPr>
        <p:spPr>
          <a:xfrm>
            <a:off x="6867750" y="2836466"/>
            <a:ext cx="4668820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 pickup availability, arrange transport if needed</a:t>
            </a:r>
            <a:endParaRPr lang="en-US" sz="13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75340" y="3413423"/>
            <a:ext cx="256871" cy="256877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867750" y="3408164"/>
            <a:ext cx="466882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spc="-5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Test risk</a:t>
            </a:r>
            <a:endParaRPr lang="en-US" sz="1650" dirty="0"/>
          </a:p>
        </p:txBody>
      </p:sp>
      <p:sp>
        <p:nvSpPr>
          <p:cNvPr id="23" name="Text 15"/>
          <p:cNvSpPr/>
          <p:nvPr/>
        </p:nvSpPr>
        <p:spPr>
          <a:xfrm>
            <a:off x="6867750" y="3830935"/>
            <a:ext cx="4668820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Help schedule or accompany patient for test completion</a:t>
            </a:r>
            <a:endParaRPr lang="en-US" sz="13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75340" y="4407892"/>
            <a:ext cx="256871" cy="256877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867750" y="4402634"/>
            <a:ext cx="466882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spc="-5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Review risk</a:t>
            </a:r>
            <a:endParaRPr lang="en-US" sz="1650" dirty="0"/>
          </a:p>
        </p:txBody>
      </p:sp>
      <p:sp>
        <p:nvSpPr>
          <p:cNvPr id="26" name="Text 17"/>
          <p:cNvSpPr/>
          <p:nvPr/>
        </p:nvSpPr>
        <p:spPr>
          <a:xfrm>
            <a:off x="6867750" y="4825405"/>
            <a:ext cx="4668820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 reminder + assist with review scheduling</a:t>
            </a:r>
            <a:endParaRPr lang="en-US" sz="1300" dirty="0"/>
          </a:p>
        </p:txBody>
      </p:sp>
      <p:sp>
        <p:nvSpPr>
          <p:cNvPr id="27" name="Shape 18"/>
          <p:cNvSpPr/>
          <p:nvPr/>
        </p:nvSpPr>
        <p:spPr>
          <a:xfrm>
            <a:off x="6311147" y="5261273"/>
            <a:ext cx="5225423" cy="887413"/>
          </a:xfrm>
          <a:prstGeom prst="roundRect">
            <a:avLst>
              <a:gd name="adj" fmla="val 8107"/>
            </a:avLst>
          </a:prstGeom>
          <a:solidFill>
            <a:srgbClr val="DADBF1"/>
          </a:solidFill>
          <a:ln/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82394" y="5499795"/>
            <a:ext cx="214109" cy="171252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6867750" y="5443736"/>
            <a:ext cx="4497573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spc="-27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model supports the health worker. It does not replace clinical judgment.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From fragmented records to follow-up assurance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09538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the complete pipeline — from raw, scattered data to a practical action for the health worker. Every step is designed to be auditable and explainable.</a:t>
            </a:r>
            <a:endParaRPr lang="en-US" sz="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076027"/>
            <a:ext cx="9753356" cy="5486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6615509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stage in the pipeline is traceable. If a prediction seems off, a health worker or supervisor can follow the chain back to the source data.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b="1" spc="-9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Does the model actually help?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61475" y="1287264"/>
            <a:ext cx="11478330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evaluate across three dimensions — not just accuracy, but whether the model is useful in practice.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61475" y="1808262"/>
            <a:ext cx="523981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Predictive Performance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61475" y="2191941"/>
            <a:ext cx="5239810" cy="517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ROC-AUC, PR-AUC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Precision, Recall, F1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61475" y="2843808"/>
            <a:ext cx="523981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Stage Prediction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61475" y="3227487"/>
            <a:ext cx="5239810" cy="7995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Macro-F1 across stages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Per-stage performance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Confusion matrix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61475" y="4161532"/>
            <a:ext cx="523981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Operational Usefulness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61475" y="4545211"/>
            <a:ext cx="5239810" cy="517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Recall among top 10% and 20% highest-risk patients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Calibration and outreach workload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296760" y="1808262"/>
            <a:ext cx="523981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Temporal Validation Strategy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907140" y="2208709"/>
            <a:ext cx="19050" cy="3037483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</p:sp>
      <p:sp>
        <p:nvSpPr>
          <p:cNvPr id="12" name="Shape 10"/>
          <p:cNvSpPr/>
          <p:nvPr/>
        </p:nvSpPr>
        <p:spPr>
          <a:xfrm>
            <a:off x="8616834" y="2378571"/>
            <a:ext cx="318881" cy="19050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</p:sp>
      <p:sp>
        <p:nvSpPr>
          <p:cNvPr id="13" name="Shape 11"/>
          <p:cNvSpPr/>
          <p:nvPr/>
        </p:nvSpPr>
        <p:spPr>
          <a:xfrm>
            <a:off x="8856887" y="2328317"/>
            <a:ext cx="119556" cy="119559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14" name="Text 12"/>
          <p:cNvSpPr/>
          <p:nvPr/>
        </p:nvSpPr>
        <p:spPr>
          <a:xfrm>
            <a:off x="6296760" y="2263477"/>
            <a:ext cx="1982043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Train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296760" y="2647156"/>
            <a:ext cx="1982043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23000"/>
              </a:lnSpc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Earlier development data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897616" y="3285530"/>
            <a:ext cx="318881" cy="19050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</p:sp>
      <p:sp>
        <p:nvSpPr>
          <p:cNvPr id="17" name="Shape 15"/>
          <p:cNvSpPr/>
          <p:nvPr/>
        </p:nvSpPr>
        <p:spPr>
          <a:xfrm>
            <a:off x="8856887" y="3235275"/>
            <a:ext cx="119556" cy="119559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18" name="Text 16"/>
          <p:cNvSpPr/>
          <p:nvPr/>
        </p:nvSpPr>
        <p:spPr>
          <a:xfrm>
            <a:off x="9554527" y="3170436"/>
            <a:ext cx="1982043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Validate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554527" y="3554115"/>
            <a:ext cx="1982043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Later development data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616834" y="4085332"/>
            <a:ext cx="318881" cy="19050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</p:sp>
      <p:sp>
        <p:nvSpPr>
          <p:cNvPr id="21" name="Shape 19"/>
          <p:cNvSpPr/>
          <p:nvPr/>
        </p:nvSpPr>
        <p:spPr>
          <a:xfrm>
            <a:off x="8856887" y="4035078"/>
            <a:ext cx="119556" cy="119559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22" name="Text 20"/>
          <p:cNvSpPr/>
          <p:nvPr/>
        </p:nvSpPr>
        <p:spPr>
          <a:xfrm>
            <a:off x="6296760" y="3970238"/>
            <a:ext cx="1982043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Evaluate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296760" y="4353917"/>
            <a:ext cx="1982043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23000"/>
              </a:lnSpc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evaluation cohort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96760" y="5397500"/>
            <a:ext cx="5239810" cy="791964"/>
          </a:xfrm>
          <a:prstGeom prst="roundRect">
            <a:avLst>
              <a:gd name="adj" fmla="val 8458"/>
            </a:avLst>
          </a:prstGeom>
          <a:solidFill>
            <a:srgbClr val="DADBF1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6201" y="5603677"/>
            <a:ext cx="199325" cy="159445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814967" y="5558334"/>
            <a:ext cx="4562162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spc="-25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do not report results here. Actual metrics depend on the evaluation dataset and must be filled in after testing.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4519"/>
            <a:ext cx="10868745" cy="350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spc="-6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Predict the risk. Find the break. Act early.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29746" y="1153418"/>
            <a:ext cx="11310059" cy="143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spc="-1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don't just predict who may drop out. We predict </a:t>
            </a:r>
            <a:pPr algn="l" indent="0" marL="0">
              <a:lnSpc>
                <a:spcPct val="106000"/>
              </a:lnSpc>
              <a:buNone/>
            </a:pPr>
            <a:r>
              <a:rPr lang="en-US" sz="850" b="1" spc="-1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where the care journey is likely to break</a:t>
            </a:r>
            <a:pPr algn="l" indent="0" marL="0">
              <a:lnSpc>
                <a:spcPct val="106000"/>
              </a:lnSpc>
              <a:buNone/>
            </a:pPr>
            <a:r>
              <a:rPr lang="en-US" sz="850" spc="-1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and turn that prediction into a practical next step for the health worker.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61475" y="1078508"/>
            <a:ext cx="12700" cy="292894"/>
          </a:xfrm>
          <a:prstGeom prst="roundRect">
            <a:avLst>
              <a:gd name="adj" fmla="val 49999"/>
            </a:avLst>
          </a:prstGeom>
          <a:solidFill>
            <a:srgbClr val="4950BC"/>
          </a:solidFill>
          <a:ln/>
        </p:spPr>
      </p:sp>
      <p:sp>
        <p:nvSpPr>
          <p:cNvPr id="5" name="Shape 3"/>
          <p:cNvSpPr/>
          <p:nvPr/>
        </p:nvSpPr>
        <p:spPr>
          <a:xfrm>
            <a:off x="661475" y="1446312"/>
            <a:ext cx="448854" cy="673298"/>
          </a:xfrm>
          <a:prstGeom prst="roundRect">
            <a:avLst>
              <a:gd name="adj" fmla="val 5000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1767" y="1698823"/>
            <a:ext cx="168271" cy="1682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6903" y="1558528"/>
            <a:ext cx="10353317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spc="-3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Link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61475" y="2186186"/>
            <a:ext cx="448854" cy="673298"/>
          </a:xfrm>
          <a:prstGeom prst="roundRect">
            <a:avLst>
              <a:gd name="adj" fmla="val 5000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1767" y="2438698"/>
            <a:ext cx="168271" cy="1682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76903" y="2298402"/>
            <a:ext cx="10353317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spc="-3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Predict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61475" y="2926060"/>
            <a:ext cx="448854" cy="673298"/>
          </a:xfrm>
          <a:prstGeom prst="roundRect">
            <a:avLst>
              <a:gd name="adj" fmla="val 5000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1767" y="3178572"/>
            <a:ext cx="168271" cy="16827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76903" y="3038277"/>
            <a:ext cx="10353317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spc="-3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Identify Stage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661475" y="3665934"/>
            <a:ext cx="448854" cy="673298"/>
          </a:xfrm>
          <a:prstGeom prst="roundRect">
            <a:avLst>
              <a:gd name="adj" fmla="val 5000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1767" y="3918446"/>
            <a:ext cx="168271" cy="16827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76903" y="3778151"/>
            <a:ext cx="10353317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spc="-3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Act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661475" y="4405809"/>
            <a:ext cx="448854" cy="673298"/>
          </a:xfrm>
          <a:prstGeom prst="roundRect">
            <a:avLst>
              <a:gd name="adj" fmla="val 5000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1767" y="4658320"/>
            <a:ext cx="168271" cy="16827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76903" y="4518025"/>
            <a:ext cx="10353317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spc="-3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Measure</a:t>
            </a:r>
            <a:endParaRPr lang="en-US" sz="1100" dirty="0"/>
          </a:p>
        </p:txBody>
      </p:sp>
      <p:sp>
        <p:nvSpPr>
          <p:cNvPr id="20" name="Shape 13"/>
          <p:cNvSpPr/>
          <p:nvPr/>
        </p:nvSpPr>
        <p:spPr>
          <a:xfrm>
            <a:off x="661475" y="5154017"/>
            <a:ext cx="3578532" cy="412452"/>
          </a:xfrm>
          <a:prstGeom prst="roundRect">
            <a:avLst>
              <a:gd name="adj" fmla="val 11428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780038" y="5272584"/>
            <a:ext cx="3341405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spc="-3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Uses fragmented data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4306581" y="5154017"/>
            <a:ext cx="3578532" cy="412452"/>
          </a:xfrm>
          <a:prstGeom prst="roundRect">
            <a:avLst>
              <a:gd name="adj" fmla="val 11428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4425145" y="5272584"/>
            <a:ext cx="3341405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spc="-3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Respects rural constraints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7951688" y="5154017"/>
            <a:ext cx="3578532" cy="412452"/>
          </a:xfrm>
          <a:prstGeom prst="roundRect">
            <a:avLst>
              <a:gd name="adj" fmla="val 11428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8070251" y="5272584"/>
            <a:ext cx="3341405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spc="-3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Interpretable by design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661475" y="5633045"/>
            <a:ext cx="5401036" cy="412452"/>
          </a:xfrm>
          <a:prstGeom prst="roundRect">
            <a:avLst>
              <a:gd name="adj" fmla="val 11428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780038" y="5751612"/>
            <a:ext cx="5163909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spc="-3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Prediction → Action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129085" y="5633045"/>
            <a:ext cx="5401135" cy="412452"/>
          </a:xfrm>
          <a:prstGeom prst="roundRect">
            <a:avLst>
              <a:gd name="adj" fmla="val 11428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6247648" y="5751612"/>
            <a:ext cx="5164008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spc="-3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Evaluable in deployment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661475" y="6120408"/>
            <a:ext cx="11478330" cy="143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b="1" spc="-1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From teleconsultation to completed care.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2026-09-28T18:05:43Z</dcterms:created>
  <dcterms:modified xsi:type="dcterms:W3CDTF">2026-09-28T18:05:43Z</dcterms:modified>
</cp:coreProperties>
</file>