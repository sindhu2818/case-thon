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5.png"/><Relationship Id="rId8" Type="http://schemas.openxmlformats.org/officeDocument/2006/relationships/image" Target="../media/image-7-6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9.png"/><Relationship Id="rId12" Type="http://schemas.openxmlformats.org/officeDocument/2006/relationships/image" Target="../media/image-7-10.svg"/><Relationship Id="rId13" Type="http://schemas.openxmlformats.org/officeDocument/2006/relationships/image" Target="../media/image-7-9.png"/><Relationship Id="rId14" Type="http://schemas.openxmlformats.org/officeDocument/2006/relationships/image" Target="../media/image-7-10.sv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6469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consultation is not the end of the journey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329458"/>
            <a:ext cx="6296860" cy="172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patient gets a teleconsultation with a doctor, but that’s just the start. They still need to collect medicines, get tests done, and come back for follow-up. Some fall out at different points along the way.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hard part isn’t the consultation itself. It’s making sure patients actually complete everything that comes after.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4266803"/>
            <a:ext cx="6296860" cy="17264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92397" y="4890643"/>
            <a:ext cx="951560" cy="340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Teleconsultation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992397" y="5279872"/>
            <a:ext cx="951560" cy="408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 remotely with doctor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276667" y="4767968"/>
            <a:ext cx="951559" cy="340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Medicine Collection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276667" y="5157196"/>
            <a:ext cx="951559" cy="272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must obtain prescribed meds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8585167" y="4890643"/>
            <a:ext cx="951559" cy="17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Required Test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585167" y="5109489"/>
            <a:ext cx="951559" cy="272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or diagnostic tests needed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881553" y="4938350"/>
            <a:ext cx="951560" cy="17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Visit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9881553" y="5157196"/>
            <a:ext cx="951560" cy="272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 to assess treatment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patient exists across multiple systems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records are scattered across different systems — different IDs, different formats, incomplete pictures. But before we can predict anything, we need to figure out which records belong to the same person.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29109"/>
            <a:ext cx="5319083" cy="5319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487" y="3482280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Record Linkage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17487" y="3677146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link records across systems using name, phone, demographics, and geography — with fuzzy matching where required.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6217487" y="3843635"/>
            <a:ext cx="5319083" cy="245566"/>
          </a:xfrm>
          <a:prstGeom prst="roundRect">
            <a:avLst>
              <a:gd name="adj" fmla="val 16164"/>
            </a:avLst>
          </a:prstGeom>
          <a:solidFill>
            <a:srgbClr val="DADBF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41" y="3914477"/>
            <a:ext cx="118067" cy="94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24462" y="3909715"/>
            <a:ext cx="552723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person, different IDs in different systems. That's why we built the Patient 360 — to see the whole picture.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784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11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Dropout is not one event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508522"/>
            <a:ext cx="1086874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could build a simple dropout classifier. But that just tells you who's at risk, not what to actually do about it. Knowing where the care journey is likely to break — that's what actually helps.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488208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Generic Model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1475" y="2984897"/>
            <a:ext cx="5207465" cy="1153914"/>
          </a:xfrm>
          <a:prstGeom prst="roundRect">
            <a:avLst>
              <a:gd name="adj" fmla="val 67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855" y="3177282"/>
            <a:ext cx="482270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3855" y="3651151"/>
            <a:ext cx="48227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Dropout / No Dropout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4344789"/>
            <a:ext cx="58170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a yes/no. Doesn't tell you where to step in.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29105" y="2488208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29105" y="2984897"/>
            <a:ext cx="5207465" cy="1153914"/>
          </a:xfrm>
          <a:prstGeom prst="roundRect">
            <a:avLst>
              <a:gd name="adj" fmla="val 67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1485" y="3177282"/>
            <a:ext cx="482270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1485" y="3651151"/>
            <a:ext cx="48227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Dropout risk +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Likely failure stage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29105" y="4344789"/>
            <a:ext cx="52074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 if you know whether it's the medicine, the test, or the follow-up visit — then you know what to do.</a:t>
            </a:r>
            <a:endParaRPr lang="en-US" sz="14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224" y="5311825"/>
            <a:ext cx="279095" cy="27910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66099" y="5306120"/>
            <a:ext cx="28656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Medicine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66099" y="5706666"/>
            <a:ext cx="28656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does not collect prescribed medicines.</a:t>
            </a:r>
            <a:endParaRPr lang="en-US" sz="14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0403" y="5311825"/>
            <a:ext cx="279095" cy="2791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965278" y="5306120"/>
            <a:ext cx="28656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965278" y="5706666"/>
            <a:ext cx="28656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does not complete a required diagnostic test.</a:t>
            </a:r>
            <a:endParaRPr lang="en-US" sz="14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9583" y="5311825"/>
            <a:ext cx="279095" cy="2791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64457" y="5306120"/>
            <a:ext cx="28657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664457" y="5706666"/>
            <a:ext cx="28657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does not return for scheduled follow-up.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9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stage-aware ML?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4662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looked at three options. The question was: how simple, how smart, and how usable for actual health workers?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61666"/>
            <a:ext cx="3496877" cy="2947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27607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Simple Dropout Classifier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2684760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Pros: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Simple, interpretable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Doesn't tell you where to step in — just says someone's at risk.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061666"/>
            <a:ext cx="3496877" cy="2947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363" y="2276078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Sequence / Transformer Model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663363" y="2980035"/>
            <a:ext cx="296646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Pros: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Models longitudinal patient events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Gets complicated fast, hard to explain with our dataset size, and health workers won't understand what it's doing.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061666"/>
            <a:ext cx="3496877" cy="29472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49247" y="2276078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Stage-Aware Tabular ML ✓ Chosen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349247" y="2980035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Pros: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Captures patient history, identifies failure stage, easier to validate and explain, practical for deployment.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61475" y="5221585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DADBF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82" y="5489277"/>
            <a:ext cx="236234" cy="1890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5723" y="5457825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went with the middle option. Smart enough to understand the care journey, but not so complex that it breaks down in the field.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577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10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the model knows at prediction time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30040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make the prediction right after the consultation, before anything else happens. The model uses four types of information: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904702"/>
            <a:ext cx="5348551" cy="1750913"/>
          </a:xfrm>
          <a:prstGeom prst="roundRect">
            <a:avLst>
              <a:gd name="adj" fmla="val 432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7902" y="2091134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6528" y="2239665"/>
            <a:ext cx="243179" cy="2431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7902" y="2803227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7902" y="3187700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vulnerability status, NCD history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81670" y="1904702"/>
            <a:ext cx="5348551" cy="1750913"/>
          </a:xfrm>
          <a:prstGeom prst="roundRect">
            <a:avLst>
              <a:gd name="adj" fmla="val 432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68097" y="2091134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6723" y="2239665"/>
            <a:ext cx="243179" cy="2431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68097" y="2803227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Previous Behavior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6368097" y="3187700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visits, medicine pickup patterns, missed follow-ups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61475" y="3827264"/>
            <a:ext cx="5348551" cy="2032397"/>
          </a:xfrm>
          <a:prstGeom prst="roundRect">
            <a:avLst>
              <a:gd name="adj" fmla="val 372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7902" y="4013696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6528" y="4162227"/>
            <a:ext cx="243179" cy="2431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902" y="4725789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847902" y="5110262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Location, distance to facility, connectivity when available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81670" y="3827264"/>
            <a:ext cx="5348551" cy="2032397"/>
          </a:xfrm>
          <a:prstGeom prst="roundRect">
            <a:avLst>
              <a:gd name="adj" fmla="val 372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68097" y="4013696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6723" y="4162227"/>
            <a:ext cx="243179" cy="2431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68097" y="4725789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Consultation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6368097" y="5110262"/>
            <a:ext cx="4975696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Diagnosis, prescribed medicines, needed tests, review schedule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61475" y="6052840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those four things, the model outputs two things: how likely the patient is to drop out, and where we think they'll get stuck.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 predict the future without using the future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rule we built everything around: the model can't use information from after the consultation it's trying to predict.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6027"/>
            <a:ext cx="10868745" cy="48909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98699" y="1337951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Previous visits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298699" y="1715488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encounter records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79801" y="5006192"/>
            <a:ext cx="191245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 profile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179801" y="5383729"/>
            <a:ext cx="191245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 and history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40002" y="1154409"/>
            <a:ext cx="1902003" cy="58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consultation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040002" y="1825874"/>
            <a:ext cx="1902003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Consultation at prediction point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21104" y="5006192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events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7921104" y="5383729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used as model inputs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1475" y="6067326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rule in practice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1475" y="6262191"/>
            <a:ext cx="5319083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Consultation: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July 10</a:t>
            </a:r>
            <a:endParaRPr lang="en-US" sz="7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pickup: 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July 12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can't use the July 12 event to predict what happened on July 10. That would be cheating. And a model that cheats on training data falls apart when you actually use it.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217487" y="6073180"/>
            <a:ext cx="5319083" cy="358973"/>
          </a:xfrm>
          <a:prstGeom prst="roundRect">
            <a:avLst>
              <a:gd name="adj" fmla="val 11058"/>
            </a:avLst>
          </a:prstGeom>
          <a:solidFill>
            <a:srgbClr val="DADBF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41" y="6144022"/>
            <a:ext cx="118067" cy="94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24462" y="6139259"/>
            <a:ext cx="491765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leakage is easy to miss. But it's a killer — your model looks great in testing, then fails the moment you deploy it.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15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spc="-9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 don't give the health worker another probability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71302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isn't here to give health workers another number to think about. Every prediction comes with a concrete next step.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92672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 Patient P003721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47913"/>
            <a:ext cx="2544004" cy="10198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2017" y="2532261"/>
            <a:ext cx="209911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Dropout Risk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2017" y="2935387"/>
            <a:ext cx="209911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0137" y="2347913"/>
            <a:ext cx="2544004" cy="10198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10678" y="2532261"/>
            <a:ext cx="209911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Likely Stage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610678" y="2935387"/>
            <a:ext cx="209911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collection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512443"/>
            <a:ext cx="2544004" cy="17640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2017" y="3696791"/>
            <a:ext cx="209911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22017" y="4099917"/>
            <a:ext cx="209911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They've missed pickups before, and getting to the facility is hard.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50137" y="3512443"/>
            <a:ext cx="2544004" cy="176401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10678" y="3696791"/>
            <a:ext cx="209911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Action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3610678" y="4099917"/>
            <a:ext cx="2099119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the patient, check if they can get to the pharmacy, help arrange transport if needed.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303904" y="192672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→ Action Mapping</a:t>
            </a:r>
            <a:endParaRPr lang="en-US" sz="16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65914" y="2352973"/>
            <a:ext cx="248041" cy="24804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41259" y="2347913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Medicine risk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841259" y="2751038"/>
            <a:ext cx="4695311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if they can get to the pharmacy, help with transport if that's the problem.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5914" y="3541613"/>
            <a:ext cx="248041" cy="24804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41259" y="3536553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risk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6841259" y="3939679"/>
            <a:ext cx="469531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schedule or accompany patient for test completion</a:t>
            </a:r>
            <a:endParaRPr lang="en-US" sz="13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65914" y="4482207"/>
            <a:ext cx="248041" cy="24804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841259" y="4477147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risk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6841259" y="4880273"/>
            <a:ext cx="469531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reminder + assist with review scheduling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303904" y="5291038"/>
            <a:ext cx="5232666" cy="838994"/>
          </a:xfrm>
          <a:prstGeom prst="roundRect">
            <a:avLst>
              <a:gd name="adj" fmla="val 8279"/>
            </a:avLst>
          </a:prstGeom>
          <a:solidFill>
            <a:srgbClr val="DADBF1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9198" y="5516463"/>
            <a:ext cx="206667" cy="16529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841160" y="5462488"/>
            <a:ext cx="453011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is a tool for the health worker, not a replacement for their judgment.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fragmented records to follow-up assurance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how it all fits together — from messy data to an actual action the health worker can take. And every step is traceable, so if something seems off, you can follow it back to the source.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6027"/>
            <a:ext cx="9753356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6615509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prediction doesn't look right, you can trace it back through the whole chain to see where it came from.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1491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Does the model actually help?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390948"/>
            <a:ext cx="114783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We're looking at three things — not just whether the model is accurate, but whether it actually works in the real world.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878608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Performance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1475" y="2243237"/>
            <a:ext cx="524705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ROC-AUC, PR-AUC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Precision, Recall, F1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2856905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Prediction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1475" y="3221534"/>
            <a:ext cx="5247052" cy="755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Macro-F1 across stages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Per-stage performance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4101505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Operational Usefulness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1475" y="4466134"/>
            <a:ext cx="5247052" cy="711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many of the patients we flag as highest-risk actually do drop out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Whether the predictions are reliable, and how many patients we'd actually need to follow up with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89518" y="1878608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Temporal Validation Strategy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03469" y="2258814"/>
            <a:ext cx="19050" cy="2910681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2" name="Shape 10"/>
          <p:cNvSpPr/>
          <p:nvPr/>
        </p:nvSpPr>
        <p:spPr>
          <a:xfrm>
            <a:off x="8624969" y="2422029"/>
            <a:ext cx="307074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3" name="Shape 11"/>
          <p:cNvSpPr/>
          <p:nvPr/>
        </p:nvSpPr>
        <p:spPr>
          <a:xfrm>
            <a:off x="8855449" y="2374007"/>
            <a:ext cx="115091" cy="11509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6289518" y="2311598"/>
            <a:ext cx="20092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89518" y="2676227"/>
            <a:ext cx="200922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Earlier development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93945" y="3285827"/>
            <a:ext cx="307074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7" name="Shape 15"/>
          <p:cNvSpPr/>
          <p:nvPr/>
        </p:nvSpPr>
        <p:spPr>
          <a:xfrm>
            <a:off x="8855449" y="3237805"/>
            <a:ext cx="115091" cy="11509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9527242" y="3175397"/>
            <a:ext cx="2009328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27242" y="3540026"/>
            <a:ext cx="200932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 development 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24969" y="4051300"/>
            <a:ext cx="307074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21" name="Shape 19"/>
          <p:cNvSpPr/>
          <p:nvPr/>
        </p:nvSpPr>
        <p:spPr>
          <a:xfrm>
            <a:off x="8855449" y="4003278"/>
            <a:ext cx="115091" cy="11509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6289518" y="3940870"/>
            <a:ext cx="20092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89518" y="4305498"/>
            <a:ext cx="200922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evaluation cohort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89518" y="5309791"/>
            <a:ext cx="5247052" cy="746323"/>
          </a:xfrm>
          <a:prstGeom prst="roundRect">
            <a:avLst>
              <a:gd name="adj" fmla="val 8643"/>
            </a:avLst>
          </a:prstGeom>
          <a:solidFill>
            <a:srgbClr val="DADBF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3005" y="5503565"/>
            <a:ext cx="191884" cy="15349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88377" y="5460305"/>
            <a:ext cx="459470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We're not showing numbers here — those will come from the actual evaluation. But this is how we'll measure whether it works.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453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spc="-9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 the risk. Find the break. Act early.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900685" y="1496219"/>
            <a:ext cx="1062953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We're not just flagging who might drop out. We're identifying where the care journey is likely to break, and turning that into something the health worker can actually act 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1344910"/>
            <a:ext cx="19050" cy="772914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269133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8465" y="2388691"/>
            <a:ext cx="239210" cy="239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0915" y="2882106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Link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329203" y="2269133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6193" y="2388691"/>
            <a:ext cx="239210" cy="2392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88643" y="2882106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7996930" y="2269133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43920" y="2388691"/>
            <a:ext cx="239210" cy="2392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56371" y="2882106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Identify Stage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61475" y="3425230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08465" y="3544788"/>
            <a:ext cx="239210" cy="2392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0915" y="4038203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4329203" y="3425230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76193" y="3544788"/>
            <a:ext cx="239210" cy="2392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488643" y="4038203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Measure</a:t>
            </a:r>
            <a:endParaRPr lang="en-US" sz="1550" dirty="0"/>
          </a:p>
        </p:txBody>
      </p:sp>
      <p:sp>
        <p:nvSpPr>
          <p:cNvPr id="20" name="Shape 13"/>
          <p:cNvSpPr/>
          <p:nvPr/>
        </p:nvSpPr>
        <p:spPr>
          <a:xfrm>
            <a:off x="661475" y="4598095"/>
            <a:ext cx="3533191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827265" y="4763889"/>
            <a:ext cx="32016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Uses fragmented data</a:t>
            </a:r>
            <a:endParaRPr lang="en-US" sz="1550" dirty="0"/>
          </a:p>
        </p:txBody>
      </p:sp>
      <p:sp>
        <p:nvSpPr>
          <p:cNvPr id="22" name="Shape 15"/>
          <p:cNvSpPr/>
          <p:nvPr/>
        </p:nvSpPr>
        <p:spPr>
          <a:xfrm>
            <a:off x="4329203" y="4598095"/>
            <a:ext cx="3533191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494993" y="4763889"/>
            <a:ext cx="32016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Respects rural constraints</a:t>
            </a:r>
            <a:endParaRPr lang="en-US" sz="1550" dirty="0"/>
          </a:p>
        </p:txBody>
      </p:sp>
      <p:sp>
        <p:nvSpPr>
          <p:cNvPr id="24" name="Shape 17"/>
          <p:cNvSpPr/>
          <p:nvPr/>
        </p:nvSpPr>
        <p:spPr>
          <a:xfrm>
            <a:off x="7996930" y="4598095"/>
            <a:ext cx="3533191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162721" y="4763889"/>
            <a:ext cx="32016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Interpretable by design</a:t>
            </a:r>
            <a:endParaRPr lang="en-US" sz="1550" dirty="0"/>
          </a:p>
        </p:txBody>
      </p:sp>
      <p:sp>
        <p:nvSpPr>
          <p:cNvPr id="26" name="Shape 19"/>
          <p:cNvSpPr/>
          <p:nvPr/>
        </p:nvSpPr>
        <p:spPr>
          <a:xfrm>
            <a:off x="661475" y="5313363"/>
            <a:ext cx="5367005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827265" y="5479157"/>
            <a:ext cx="503542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Prediction → Action</a:t>
            </a:r>
            <a:endParaRPr lang="en-US" sz="1550" dirty="0"/>
          </a:p>
        </p:txBody>
      </p:sp>
      <p:sp>
        <p:nvSpPr>
          <p:cNvPr id="28" name="Shape 21"/>
          <p:cNvSpPr/>
          <p:nvPr/>
        </p:nvSpPr>
        <p:spPr>
          <a:xfrm>
            <a:off x="6163017" y="5313363"/>
            <a:ext cx="5367104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328807" y="5479157"/>
            <a:ext cx="503552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Evaluable in deployment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661475" y="6045398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the consultation to care that actually gets completed.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2026-09-28T18:16:25Z</dcterms:created>
  <dcterms:modified xsi:type="dcterms:W3CDTF">2026-09-28T18:16:25Z</dcterms:modified>
</cp:coreProperties>
</file>